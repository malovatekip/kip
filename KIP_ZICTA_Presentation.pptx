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Thank you for the time today. I'm going to walk you through KIP — the Kwacha Intelligence Platform — in about three to four minutes. I'll focus on two things: what the platform actually does, and how it's technically built. At the end I'll be upfront about the technical challenges we're still working through.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KIP? It's one AI advisor that stays with the entrepreneur across three connected products. First, idea generation and advice — a chat-based advisor grounded in Zambian economic data. Second, business operations — once someone accepts an idea, KIP turns it into a live dashboard with a launch plan, daily logging, and forecasting. And third, learning and simulation — a financial literacy course and a full business simulation game called BizSim, so people can practice decisions before risking real money.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KIP is a fairly standard modern web stack with an AI layer on top. React and Vite on the frontend, deployed on Vercel. FastAPI and SQLAlchemy on the backend, deployed on Fly.io, talking to SQLite in development and Postgres in production, with stateless JWT authentication. The intelligence layer is the Anthropic Claude API combined with a ChromaDB vector database for retrieval-augmented generation — that's what grounds the AI's advice in real Zambian data rather than generic knowledge. We also pull in live data: OpenStreetMap for local business density, news and currency feeds, and a translation API for local languages.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of KIP is what we call K-BIG-1, the Kwacha Business Idea Generator. When a user chats with it, we don't just forward their message to an AI model. We first run retrieval-augmented generation — a semantic search over a curated Zambian knowledge base in ChromaDB — and we pull in location intelligence: real town-level economic profiles and OpenStreetMap business density data. All of that gets assembled into the prompt we send to Claude, along with the conversation history. When Claude's reply matches a structured recommendation format, we automatically detect and save that idea to the user's account.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an idea is accepted, KIP generates a week-by-week launch plan with Claude, using real Zambian specifics — registration costs, tax thresholds, financing sources. From there, the owner logs each day's revenue, expenses, customers and stock. On the forecasting side, we run a scikit-learn linear regression model over the day index and a sine-cosine encoding of the day of week, so the model understands that Sunday and Monday are close together, not far apart. Every log entry also triggers an AI coaching message that references that day's actual numbers, not generic advice.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BizSim is our gamified simulation — thirty days, six different Zambian business types, each starting with an inherited debt and a named AI rival. Under the hood it's a real economic simulation, not just a random number generator: there's a genuine double-entry bookkeeping ledger that enforces debits equal credits before any transaction is even written, a demand model that factors in price, marketing, market conditions and the competitor's behaviour, and business-specific risk mechanics like spoilage or currency swings. Claude drives the rival's negotiation style, the loan officer, and weekly coaching, and the daily events are seeded deterministically so the game is reproducible and fair.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pieces worth showing technically. First, localization: the UI and AI content translate into five Zambian languages through a translation API, cached in SQLite so we only pay for each unique string once. For Bemba specifically, we don't do literal translation — we prompt-engineer Claude to code-switch naturally between Bemba and English business terms, the way people actually speak. Second, capital access: we score a user's business profile against seven real Zambian funding sources — CEEC, DBZ, ZANACO and others — with a heuristic matching engine, then hand the top matches to Claude to generate specific, actionable guidance.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I want to be direct about where we're focused right now, because I think that matters as much as the features. Five things: wiring our existing usage-limit code into every AI endpoint so we have real cost control; moving off ad hoc SQLite table creation toward proper schema migrations as we prepare for PostgreSQL in production; making our AI calls run asynchronously so they don't block other users; adding rate limiting on authentication and public endpoints before we take on open traffic; and rebuilding payment integration cleanly after a recent refactor removed the old version. That's KIP — what it does, and how it's built. Happy to go deeper on any part of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38100"/>
          </a:xfrm>
          <a:prstGeom prst="rect">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0332720" cy="457200"/>
          </a:xfrm>
          <a:prstGeom prst="rect">
            <a:avLst/>
          </a:prstGeom>
          <a:noFill/>
        </p:spPr>
        <p:txBody>
          <a:bodyPr wrap="square" anchor="t">
            <a:spAutoFit/>
          </a:bodyPr>
          <a:lstStyle/>
          <a:p>
            <a:pPr algn="l">
              <a:lnSpc>
                <a:spcPct val="100000"/>
              </a:lnSpc>
            </a:pPr>
            <a:r>
              <a:rPr sz="1600" b="1" i="0">
                <a:solidFill>
                  <a:srgbClr val="1A9C9C"/>
                </a:solidFill>
                <a:latin typeface="Calibri"/>
              </a:rPr>
              <a:t>TECHNICAL OVERVIEW</a:t>
            </a:r>
          </a:p>
        </p:txBody>
      </p:sp>
      <p:sp>
        <p:nvSpPr>
          <p:cNvPr id="5" name="TextBox 4"/>
          <p:cNvSpPr txBox="1"/>
          <p:nvPr/>
        </p:nvSpPr>
        <p:spPr>
          <a:xfrm>
            <a:off x="914400" y="2743200"/>
            <a:ext cx="10332720" cy="1188720"/>
          </a:xfrm>
          <a:prstGeom prst="rect">
            <a:avLst/>
          </a:prstGeom>
          <a:noFill/>
        </p:spPr>
        <p:txBody>
          <a:bodyPr wrap="square" anchor="t">
            <a:spAutoFit/>
          </a:bodyPr>
          <a:lstStyle/>
          <a:p>
            <a:pPr algn="l">
              <a:lnSpc>
                <a:spcPct val="100000"/>
              </a:lnSpc>
            </a:pPr>
            <a:r>
              <a:rPr sz="7200" b="1" i="0">
                <a:solidFill>
                  <a:srgbClr val="FFFFFF"/>
                </a:solidFill>
                <a:latin typeface="Calibri"/>
              </a:rPr>
              <a:t>KIP</a:t>
            </a:r>
          </a:p>
        </p:txBody>
      </p:sp>
      <p:sp>
        <p:nvSpPr>
          <p:cNvPr id="6" name="TextBox 5"/>
          <p:cNvSpPr txBox="1"/>
          <p:nvPr/>
        </p:nvSpPr>
        <p:spPr>
          <a:xfrm>
            <a:off x="914400" y="3611880"/>
            <a:ext cx="10332720" cy="548640"/>
          </a:xfrm>
          <a:prstGeom prst="rect">
            <a:avLst/>
          </a:prstGeom>
          <a:noFill/>
        </p:spPr>
        <p:txBody>
          <a:bodyPr wrap="square" anchor="t">
            <a:spAutoFit/>
          </a:bodyPr>
          <a:lstStyle/>
          <a:p>
            <a:pPr algn="l">
              <a:lnSpc>
                <a:spcPct val="100000"/>
              </a:lnSpc>
            </a:pPr>
            <a:r>
              <a:rPr sz="2600" b="0" i="0">
                <a:solidFill>
                  <a:srgbClr val="E8ECF1"/>
                </a:solidFill>
                <a:latin typeface="Calibri"/>
              </a:rPr>
              <a:t>Kwacha Intelligence Platform</a:t>
            </a:r>
          </a:p>
        </p:txBody>
      </p:sp>
      <p:sp>
        <p:nvSpPr>
          <p:cNvPr id="7" name="TextBox 6"/>
          <p:cNvSpPr txBox="1"/>
          <p:nvPr/>
        </p:nvSpPr>
        <p:spPr>
          <a:xfrm>
            <a:off x="914400" y="4343400"/>
            <a:ext cx="10332720" cy="457200"/>
          </a:xfrm>
          <a:prstGeom prst="rect">
            <a:avLst/>
          </a:prstGeom>
          <a:noFill/>
        </p:spPr>
        <p:txBody>
          <a:bodyPr wrap="square" anchor="t">
            <a:spAutoFit/>
          </a:bodyPr>
          <a:lstStyle/>
          <a:p>
            <a:pPr algn="l">
              <a:lnSpc>
                <a:spcPct val="100000"/>
              </a:lnSpc>
            </a:pPr>
            <a:r>
              <a:rPr sz="1600" b="0" i="0">
                <a:solidFill>
                  <a:srgbClr val="9AA5B5"/>
                </a:solidFill>
                <a:latin typeface="Calibri"/>
              </a:rPr>
              <a:t>An AI business-advisory platform for Zambian entrepreneurs</a:t>
            </a:r>
          </a:p>
        </p:txBody>
      </p:sp>
      <p:sp>
        <p:nvSpPr>
          <p:cNvPr id="8" name="TextBox 7"/>
          <p:cNvSpPr txBox="1"/>
          <p:nvPr/>
        </p:nvSpPr>
        <p:spPr>
          <a:xfrm>
            <a:off x="914400" y="6035040"/>
            <a:ext cx="10332720" cy="457200"/>
          </a:xfrm>
          <a:prstGeom prst="rect">
            <a:avLst/>
          </a:prstGeom>
          <a:noFill/>
        </p:spPr>
        <p:txBody>
          <a:bodyPr wrap="square" anchor="t">
            <a:spAutoFit/>
          </a:bodyPr>
          <a:lstStyle/>
          <a:p>
            <a:pPr algn="l">
              <a:lnSpc>
                <a:spcPct val="100000"/>
              </a:lnSpc>
            </a:pPr>
            <a:r>
              <a:rPr sz="1300" b="0" i="0">
                <a:solidFill>
                  <a:srgbClr val="9AA5B5"/>
                </a:solidFill>
                <a:latin typeface="Calibri"/>
              </a:rPr>
              <a:t>ZICTA Innovation Challenge  |  Technical Supervisor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anchor="t">
            <a:spAutoFit/>
          </a:bodyPr>
          <a:lstStyle/>
          <a:p>
            <a:pPr algn="l">
              <a:lnSpc>
                <a:spcPct val="100000"/>
              </a:lnSpc>
            </a:pPr>
            <a:r>
              <a:rPr sz="1300" b="1" i="0">
                <a:solidFill>
                  <a:srgbClr val="1A9C9C"/>
                </a:solidFill>
                <a:latin typeface="Calibri"/>
              </a:rPr>
              <a:t>WHAT IT DOES</a:t>
            </a:r>
          </a:p>
        </p:txBody>
      </p:sp>
      <p:sp>
        <p:nvSpPr>
          <p:cNvPr id="4" name="TextBox 3"/>
          <p:cNvSpPr txBox="1"/>
          <p:nvPr/>
        </p:nvSpPr>
        <p:spPr>
          <a:xfrm>
            <a:off x="640080" y="822960"/>
            <a:ext cx="10881360" cy="822960"/>
          </a:xfrm>
          <a:prstGeom prst="rect">
            <a:avLst/>
          </a:prstGeom>
          <a:noFill/>
        </p:spPr>
        <p:txBody>
          <a:bodyPr wrap="square" anchor="t">
            <a:spAutoFit/>
          </a:bodyPr>
          <a:lstStyle/>
          <a:p>
            <a:pPr algn="l">
              <a:lnSpc>
                <a:spcPct val="100000"/>
              </a:lnSpc>
            </a:pPr>
            <a:r>
              <a:rPr sz="3200" b="1" i="0">
                <a:solidFill>
                  <a:srgbClr val="FFFFFF"/>
                </a:solidFill>
                <a:latin typeface="Calibri"/>
              </a:rPr>
              <a:t>One AI advisor, three connected products</a:t>
            </a:r>
          </a:p>
        </p:txBody>
      </p:sp>
      <p:sp>
        <p:nvSpPr>
          <p:cNvPr id="5" name="Rectangle 4"/>
          <p:cNvSpPr/>
          <p:nvPr/>
        </p:nvSpPr>
        <p:spPr>
          <a:xfrm>
            <a:off x="640080" y="1508760"/>
            <a:ext cx="1828800" cy="38100"/>
          </a:xfrm>
          <a:prstGeom prst="rect">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881360" cy="640080"/>
          </a:xfrm>
          <a:prstGeom prst="rect">
            <a:avLst/>
          </a:prstGeom>
          <a:noFill/>
        </p:spPr>
        <p:txBody>
          <a:bodyPr wrap="square" anchor="t">
            <a:spAutoFit/>
          </a:bodyPr>
          <a:lstStyle/>
          <a:p>
            <a:pPr algn="l">
              <a:lnSpc>
                <a:spcPct val="115000"/>
              </a:lnSpc>
            </a:pPr>
            <a:r>
              <a:rPr sz="1700" b="0" i="0">
                <a:solidFill>
                  <a:srgbClr val="E8ECF1"/>
                </a:solidFill>
                <a:latin typeface="Calibri"/>
              </a:rPr>
              <a:t>KIP gives a Zambian entrepreneur an AI advisor grounded in local economic data, then carries that same relationship through planning, launch, and daily operation of the business.</a:t>
            </a:r>
          </a:p>
        </p:txBody>
      </p:sp>
      <p:sp>
        <p:nvSpPr>
          <p:cNvPr id="7" name="Rounded Rectangle 6"/>
          <p:cNvSpPr/>
          <p:nvPr/>
        </p:nvSpPr>
        <p:spPr>
          <a:xfrm>
            <a:off x="640080" y="2880360"/>
            <a:ext cx="3429000" cy="3108960"/>
          </a:xfrm>
          <a:prstGeom prst="roundRect">
            <a:avLst>
              <a:gd name="adj" fmla="val 4000"/>
            </a:avLst>
          </a:prstGeom>
          <a:solidFill>
            <a:srgbClr val="223352"/>
          </a:solidFill>
          <a:ln w="12700">
            <a:solidFill>
              <a:srgbClr val="14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63240"/>
            <a:ext cx="2971800" cy="457200"/>
          </a:xfrm>
          <a:prstGeom prst="rect">
            <a:avLst/>
          </a:prstGeom>
          <a:noFill/>
        </p:spPr>
        <p:txBody>
          <a:bodyPr wrap="square" anchor="t">
            <a:spAutoFit/>
          </a:bodyPr>
          <a:lstStyle/>
          <a:p>
            <a:pPr algn="l">
              <a:lnSpc>
                <a:spcPct val="100000"/>
              </a:lnSpc>
            </a:pPr>
            <a:r>
              <a:rPr sz="2200" b="1" i="0">
                <a:solidFill>
                  <a:srgbClr val="1A9C9C"/>
                </a:solidFill>
                <a:latin typeface="Calibri"/>
              </a:rPr>
              <a:t>01</a:t>
            </a:r>
          </a:p>
        </p:txBody>
      </p:sp>
      <p:sp>
        <p:nvSpPr>
          <p:cNvPr id="9" name="TextBox 8"/>
          <p:cNvSpPr txBox="1"/>
          <p:nvPr/>
        </p:nvSpPr>
        <p:spPr>
          <a:xfrm>
            <a:off x="868680" y="3566160"/>
            <a:ext cx="2971800" cy="777240"/>
          </a:xfrm>
          <a:prstGeom prst="rect">
            <a:avLst/>
          </a:prstGeom>
          <a:noFill/>
        </p:spPr>
        <p:txBody>
          <a:bodyPr wrap="square" anchor="t">
            <a:spAutoFit/>
          </a:bodyPr>
          <a:lstStyle/>
          <a:p>
            <a:pPr algn="l">
              <a:lnSpc>
                <a:spcPct val="105000"/>
              </a:lnSpc>
            </a:pPr>
            <a:r>
              <a:rPr sz="1900" b="1" i="0">
                <a:solidFill>
                  <a:srgbClr val="FFFFFF"/>
                </a:solidFill>
                <a:latin typeface="Calibri"/>
              </a:rPr>
              <a:t>Idea Generation</a:t>
            </a:r>
          </a:p>
          <a:p>
            <a:pPr algn="l">
              <a:lnSpc>
                <a:spcPct val="105000"/>
              </a:lnSpc>
            </a:pPr>
            <a:r>
              <a:rPr sz="1900" b="1" i="0">
                <a:solidFill>
                  <a:srgbClr val="FFFFFF"/>
                </a:solidFill>
                <a:latin typeface="Calibri"/>
              </a:rPr>
              <a:t>&amp; Advice</a:t>
            </a:r>
          </a:p>
        </p:txBody>
      </p:sp>
      <p:sp>
        <p:nvSpPr>
          <p:cNvPr id="10" name="TextBox 9"/>
          <p:cNvSpPr txBox="1"/>
          <p:nvPr/>
        </p:nvSpPr>
        <p:spPr>
          <a:xfrm>
            <a:off x="868680" y="4389120"/>
            <a:ext cx="2971800" cy="1463040"/>
          </a:xfrm>
          <a:prstGeom prst="rect">
            <a:avLst/>
          </a:prstGeom>
          <a:noFill/>
        </p:spPr>
        <p:txBody>
          <a:bodyPr wrap="square" anchor="t">
            <a:spAutoFit/>
          </a:bodyPr>
          <a:lstStyle/>
          <a:p>
            <a:pPr algn="l">
              <a:lnSpc>
                <a:spcPct val="120000"/>
              </a:lnSpc>
            </a:pPr>
            <a:r>
              <a:rPr sz="1350" b="0" i="0">
                <a:solidFill>
                  <a:srgbClr val="E8ECF1"/>
                </a:solidFill>
                <a:latin typeface="Calibri"/>
              </a:rPr>
              <a:t>A conversational AI advisor that proposes and refines business ideas grounded in real Zambian economic context.</a:t>
            </a:r>
          </a:p>
        </p:txBody>
      </p:sp>
      <p:sp>
        <p:nvSpPr>
          <p:cNvPr id="11" name="Rounded Rectangle 10"/>
          <p:cNvSpPr/>
          <p:nvPr/>
        </p:nvSpPr>
        <p:spPr>
          <a:xfrm>
            <a:off x="4297680" y="2880360"/>
            <a:ext cx="3429000" cy="3108960"/>
          </a:xfrm>
          <a:prstGeom prst="roundRect">
            <a:avLst>
              <a:gd name="adj" fmla="val 4000"/>
            </a:avLst>
          </a:prstGeom>
          <a:solidFill>
            <a:srgbClr val="223352"/>
          </a:solidFill>
          <a:ln w="12700">
            <a:solidFill>
              <a:srgbClr val="14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063240"/>
            <a:ext cx="2971800" cy="457200"/>
          </a:xfrm>
          <a:prstGeom prst="rect">
            <a:avLst/>
          </a:prstGeom>
          <a:noFill/>
        </p:spPr>
        <p:txBody>
          <a:bodyPr wrap="square" anchor="t">
            <a:spAutoFit/>
          </a:bodyPr>
          <a:lstStyle/>
          <a:p>
            <a:pPr algn="l">
              <a:lnSpc>
                <a:spcPct val="100000"/>
              </a:lnSpc>
            </a:pPr>
            <a:r>
              <a:rPr sz="2200" b="1" i="0">
                <a:solidFill>
                  <a:srgbClr val="1A9C9C"/>
                </a:solidFill>
                <a:latin typeface="Calibri"/>
              </a:rPr>
              <a:t>02</a:t>
            </a:r>
          </a:p>
        </p:txBody>
      </p:sp>
      <p:sp>
        <p:nvSpPr>
          <p:cNvPr id="13" name="TextBox 12"/>
          <p:cNvSpPr txBox="1"/>
          <p:nvPr/>
        </p:nvSpPr>
        <p:spPr>
          <a:xfrm>
            <a:off x="4526280" y="3566160"/>
            <a:ext cx="2971800" cy="777240"/>
          </a:xfrm>
          <a:prstGeom prst="rect">
            <a:avLst/>
          </a:prstGeom>
          <a:noFill/>
        </p:spPr>
        <p:txBody>
          <a:bodyPr wrap="square" anchor="t">
            <a:spAutoFit/>
          </a:bodyPr>
          <a:lstStyle/>
          <a:p>
            <a:pPr algn="l">
              <a:lnSpc>
                <a:spcPct val="105000"/>
              </a:lnSpc>
            </a:pPr>
            <a:r>
              <a:rPr sz="1900" b="1" i="0">
                <a:solidFill>
                  <a:srgbClr val="FFFFFF"/>
                </a:solidFill>
                <a:latin typeface="Calibri"/>
              </a:rPr>
              <a:t>Business</a:t>
            </a:r>
          </a:p>
          <a:p>
            <a:pPr algn="l">
              <a:lnSpc>
                <a:spcPct val="105000"/>
              </a:lnSpc>
            </a:pPr>
            <a:r>
              <a:rPr sz="1900" b="1" i="0">
                <a:solidFill>
                  <a:srgbClr val="FFFFFF"/>
                </a:solidFill>
                <a:latin typeface="Calibri"/>
              </a:rPr>
              <a:t>Operations</a:t>
            </a:r>
          </a:p>
        </p:txBody>
      </p:sp>
      <p:sp>
        <p:nvSpPr>
          <p:cNvPr id="14" name="TextBox 13"/>
          <p:cNvSpPr txBox="1"/>
          <p:nvPr/>
        </p:nvSpPr>
        <p:spPr>
          <a:xfrm>
            <a:off x="4526280" y="4389120"/>
            <a:ext cx="2971800" cy="1463040"/>
          </a:xfrm>
          <a:prstGeom prst="rect">
            <a:avLst/>
          </a:prstGeom>
          <a:noFill/>
        </p:spPr>
        <p:txBody>
          <a:bodyPr wrap="square" anchor="t">
            <a:spAutoFit/>
          </a:bodyPr>
          <a:lstStyle/>
          <a:p>
            <a:pPr algn="l">
              <a:lnSpc>
                <a:spcPct val="120000"/>
              </a:lnSpc>
            </a:pPr>
            <a:r>
              <a:rPr sz="1350" b="0" i="0">
                <a:solidFill>
                  <a:srgbClr val="E8ECF1"/>
                </a:solidFill>
                <a:latin typeface="Calibri"/>
              </a:rPr>
              <a:t>Turns an accepted idea into a live dashboard: launch plan, daily logs, revenue forecasting, AI coaching.</a:t>
            </a:r>
          </a:p>
        </p:txBody>
      </p:sp>
      <p:sp>
        <p:nvSpPr>
          <p:cNvPr id="15" name="Rounded Rectangle 14"/>
          <p:cNvSpPr/>
          <p:nvPr/>
        </p:nvSpPr>
        <p:spPr>
          <a:xfrm>
            <a:off x="7955280" y="2880360"/>
            <a:ext cx="3429000" cy="3108960"/>
          </a:xfrm>
          <a:prstGeom prst="roundRect">
            <a:avLst>
              <a:gd name="adj" fmla="val 4000"/>
            </a:avLst>
          </a:prstGeom>
          <a:solidFill>
            <a:srgbClr val="223352"/>
          </a:solidFill>
          <a:ln w="12700">
            <a:solidFill>
              <a:srgbClr val="14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3063240"/>
            <a:ext cx="2971800" cy="457200"/>
          </a:xfrm>
          <a:prstGeom prst="rect">
            <a:avLst/>
          </a:prstGeom>
          <a:noFill/>
        </p:spPr>
        <p:txBody>
          <a:bodyPr wrap="square" anchor="t">
            <a:spAutoFit/>
          </a:bodyPr>
          <a:lstStyle/>
          <a:p>
            <a:pPr algn="l">
              <a:lnSpc>
                <a:spcPct val="100000"/>
              </a:lnSpc>
            </a:pPr>
            <a:r>
              <a:rPr sz="2200" b="1" i="0">
                <a:solidFill>
                  <a:srgbClr val="1A9C9C"/>
                </a:solidFill>
                <a:latin typeface="Calibri"/>
              </a:rPr>
              <a:t>03</a:t>
            </a:r>
          </a:p>
        </p:txBody>
      </p:sp>
      <p:sp>
        <p:nvSpPr>
          <p:cNvPr id="17" name="TextBox 16"/>
          <p:cNvSpPr txBox="1"/>
          <p:nvPr/>
        </p:nvSpPr>
        <p:spPr>
          <a:xfrm>
            <a:off x="8183880" y="3566160"/>
            <a:ext cx="2971800" cy="777240"/>
          </a:xfrm>
          <a:prstGeom prst="rect">
            <a:avLst/>
          </a:prstGeom>
          <a:noFill/>
        </p:spPr>
        <p:txBody>
          <a:bodyPr wrap="square" anchor="t">
            <a:spAutoFit/>
          </a:bodyPr>
          <a:lstStyle/>
          <a:p>
            <a:pPr algn="l">
              <a:lnSpc>
                <a:spcPct val="105000"/>
              </a:lnSpc>
            </a:pPr>
            <a:r>
              <a:rPr sz="1900" b="1" i="0">
                <a:solidFill>
                  <a:srgbClr val="FFFFFF"/>
                </a:solidFill>
                <a:latin typeface="Calibri"/>
              </a:rPr>
              <a:t>Learning &amp;</a:t>
            </a:r>
          </a:p>
          <a:p>
            <a:pPr algn="l">
              <a:lnSpc>
                <a:spcPct val="105000"/>
              </a:lnSpc>
            </a:pPr>
            <a:r>
              <a:rPr sz="1900" b="1" i="0">
                <a:solidFill>
                  <a:srgbClr val="FFFFFF"/>
                </a:solidFill>
                <a:latin typeface="Calibri"/>
              </a:rPr>
              <a:t>Simulation</a:t>
            </a:r>
          </a:p>
        </p:txBody>
      </p:sp>
      <p:sp>
        <p:nvSpPr>
          <p:cNvPr id="18" name="TextBox 17"/>
          <p:cNvSpPr txBox="1"/>
          <p:nvPr/>
        </p:nvSpPr>
        <p:spPr>
          <a:xfrm>
            <a:off x="8183880" y="4389120"/>
            <a:ext cx="2971800" cy="1463040"/>
          </a:xfrm>
          <a:prstGeom prst="rect">
            <a:avLst/>
          </a:prstGeom>
          <a:noFill/>
        </p:spPr>
        <p:txBody>
          <a:bodyPr wrap="square" anchor="t">
            <a:spAutoFit/>
          </a:bodyPr>
          <a:lstStyle/>
          <a:p>
            <a:pPr algn="l">
              <a:lnSpc>
                <a:spcPct val="120000"/>
              </a:lnSpc>
            </a:pPr>
            <a:r>
              <a:rPr sz="1350" b="0" i="0">
                <a:solidFill>
                  <a:srgbClr val="E8ECF1"/>
                </a:solidFill>
                <a:latin typeface="Calibri"/>
              </a:rPr>
              <a:t>A financial-literacy course plus BizSim — a full simulation game for practicing business decisions risk-free.</a:t>
            </a:r>
          </a:p>
        </p:txBody>
      </p:sp>
      <p:sp>
        <p:nvSpPr>
          <p:cNvPr id="19" name="TextBox 18"/>
          <p:cNvSpPr txBox="1"/>
          <p:nvPr/>
        </p:nvSpPr>
        <p:spPr>
          <a:xfrm>
            <a:off x="640080" y="6446520"/>
            <a:ext cx="5486400" cy="320040"/>
          </a:xfrm>
          <a:prstGeom prst="rect">
            <a:avLst/>
          </a:prstGeom>
          <a:noFill/>
        </p:spPr>
        <p:txBody>
          <a:bodyPr wrap="square" anchor="t">
            <a:spAutoFit/>
          </a:bodyPr>
          <a:lstStyle/>
          <a:p>
            <a:pPr algn="l">
              <a:lnSpc>
                <a:spcPct val="100000"/>
              </a:lnSpc>
            </a:pPr>
            <a:r>
              <a:rPr sz="1000" b="0" i="0">
                <a:solidFill>
                  <a:srgbClr val="9AA5B5"/>
                </a:solidFill>
                <a:latin typeface="Calibri"/>
              </a:rPr>
              <a:t>KIP — Kwacha Intelligence Platform</a:t>
            </a:r>
          </a:p>
        </p:txBody>
      </p:sp>
      <p:sp>
        <p:nvSpPr>
          <p:cNvPr id="20" name="TextBox 19"/>
          <p:cNvSpPr txBox="1"/>
          <p:nvPr/>
        </p:nvSpPr>
        <p:spPr>
          <a:xfrm>
            <a:off x="10881360" y="6446520"/>
            <a:ext cx="640080" cy="320040"/>
          </a:xfrm>
          <a:prstGeom prst="rect">
            <a:avLst/>
          </a:prstGeom>
          <a:noFill/>
        </p:spPr>
        <p:txBody>
          <a:bodyPr wrap="square" anchor="t">
            <a:spAutoFit/>
          </a:bodyPr>
          <a:lstStyle/>
          <a:p>
            <a:pPr algn="r">
              <a:lnSpc>
                <a:spcPct val="100000"/>
              </a:lnSpc>
            </a:pPr>
            <a:r>
              <a:rPr sz="1000" b="0" i="0">
                <a:solidFill>
                  <a:srgbClr val="9AA5B5"/>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anchor="t">
            <a:spAutoFit/>
          </a:bodyPr>
          <a:lstStyle/>
          <a:p>
            <a:pPr algn="l">
              <a:lnSpc>
                <a:spcPct val="100000"/>
              </a:lnSpc>
            </a:pPr>
            <a:r>
              <a:rPr sz="1300" b="1" i="0">
                <a:solidFill>
                  <a:srgbClr val="1A9C9C"/>
                </a:solidFill>
                <a:latin typeface="Calibri"/>
              </a:rPr>
              <a:t>HOW IT'S BUILT</a:t>
            </a:r>
          </a:p>
        </p:txBody>
      </p:sp>
      <p:sp>
        <p:nvSpPr>
          <p:cNvPr id="4" name="TextBox 3"/>
          <p:cNvSpPr txBox="1"/>
          <p:nvPr/>
        </p:nvSpPr>
        <p:spPr>
          <a:xfrm>
            <a:off x="640080" y="822960"/>
            <a:ext cx="10881360" cy="822960"/>
          </a:xfrm>
          <a:prstGeom prst="rect">
            <a:avLst/>
          </a:prstGeom>
          <a:noFill/>
        </p:spPr>
        <p:txBody>
          <a:bodyPr wrap="square" anchor="t">
            <a:spAutoFit/>
          </a:bodyPr>
          <a:lstStyle/>
          <a:p>
            <a:pPr algn="l">
              <a:lnSpc>
                <a:spcPct val="100000"/>
              </a:lnSpc>
            </a:pPr>
            <a:r>
              <a:rPr sz="3200" b="1" i="0">
                <a:solidFill>
                  <a:srgbClr val="FFFFFF"/>
                </a:solidFill>
                <a:latin typeface="Calibri"/>
              </a:rPr>
              <a:t>System architecture</a:t>
            </a:r>
          </a:p>
        </p:txBody>
      </p:sp>
      <p:sp>
        <p:nvSpPr>
          <p:cNvPr id="5" name="Rectangle 4"/>
          <p:cNvSpPr/>
          <p:nvPr/>
        </p:nvSpPr>
        <p:spPr>
          <a:xfrm>
            <a:off x="640080" y="1508760"/>
            <a:ext cx="1828800" cy="38100"/>
          </a:xfrm>
          <a:prstGeom prst="rect">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6309360" cy="658368"/>
          </a:xfrm>
          <a:prstGeom prst="roundRect">
            <a:avLst>
              <a:gd name="adj" fmla="val 8000"/>
            </a:avLst>
          </a:prstGeom>
          <a:solidFill>
            <a:srgbClr val="147A7A"/>
          </a:solidFill>
          <a:ln w="952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lIns="177800" tIns="76200" bIns="76200"/>
          <a:lstStyle/>
          <a:p>
            <a:pPr algn="ctr"/>
            <a:r>
              <a:rPr b="1" sz="1500">
                <a:solidFill>
                  <a:srgbClr val="FFFFFF"/>
                </a:solidFill>
              </a:rPr>
              <a:t>Client   </a:t>
            </a:r>
            <a:r>
              <a:rPr sz="1250">
                <a:solidFill>
                  <a:srgbClr val="E8ECF1"/>
                </a:solidFill>
              </a:rPr>
              <a:t>React 18 + Vite SPA  →  deployed on Vercel</a:t>
            </a:r>
          </a:p>
        </p:txBody>
      </p:sp>
      <p:sp>
        <p:nvSpPr>
          <p:cNvPr id="7" name="Down Arrow 6"/>
          <p:cNvSpPr/>
          <p:nvPr/>
        </p:nvSpPr>
        <p:spPr>
          <a:xfrm>
            <a:off x="3685032" y="2558287"/>
            <a:ext cx="219456" cy="150368"/>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734055"/>
            <a:ext cx="6309360" cy="658368"/>
          </a:xfrm>
          <a:prstGeom prst="roundRect">
            <a:avLst>
              <a:gd name="adj" fmla="val 8000"/>
            </a:avLst>
          </a:prstGeom>
          <a:solidFill>
            <a:srgbClr val="223352"/>
          </a:solidFill>
          <a:ln w="952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lIns="177800" tIns="76200" bIns="76200"/>
          <a:lstStyle/>
          <a:p>
            <a:pPr algn="ctr"/>
            <a:r>
              <a:rPr b="1" sz="1500">
                <a:solidFill>
                  <a:srgbClr val="FFFFFF"/>
                </a:solidFill>
              </a:rPr>
              <a:t>API   </a:t>
            </a:r>
            <a:r>
              <a:rPr sz="1250">
                <a:solidFill>
                  <a:srgbClr val="E8ECF1"/>
                </a:solidFill>
              </a:rPr>
              <a:t>FastAPI (Python) + SQLAlchemy ORM  →  deployed on Fly.io</a:t>
            </a:r>
          </a:p>
        </p:txBody>
      </p:sp>
      <p:sp>
        <p:nvSpPr>
          <p:cNvPr id="9" name="Down Arrow 8"/>
          <p:cNvSpPr/>
          <p:nvPr/>
        </p:nvSpPr>
        <p:spPr>
          <a:xfrm>
            <a:off x="3685032" y="3417823"/>
            <a:ext cx="219456" cy="150368"/>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3593591"/>
            <a:ext cx="6309360" cy="658368"/>
          </a:xfrm>
          <a:prstGeom prst="roundRect">
            <a:avLst>
              <a:gd name="adj" fmla="val 8000"/>
            </a:avLst>
          </a:prstGeom>
          <a:solidFill>
            <a:srgbClr val="223352"/>
          </a:solidFill>
          <a:ln w="952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lIns="177800" tIns="76200" bIns="76200"/>
          <a:lstStyle/>
          <a:p>
            <a:pPr algn="ctr"/>
            <a:r>
              <a:rPr b="1" sz="1500">
                <a:solidFill>
                  <a:srgbClr val="FFFFFF"/>
                </a:solidFill>
              </a:rPr>
              <a:t>Data   </a:t>
            </a:r>
            <a:r>
              <a:rPr sz="1250">
                <a:solidFill>
                  <a:srgbClr val="E8ECF1"/>
                </a:solidFill>
              </a:rPr>
              <a:t>SQLite (dev) / PostgreSQL (prod)  •  JWT auth (bcrypt + HS256)</a:t>
            </a:r>
          </a:p>
        </p:txBody>
      </p:sp>
      <p:sp>
        <p:nvSpPr>
          <p:cNvPr id="11" name="Down Arrow 10"/>
          <p:cNvSpPr/>
          <p:nvPr/>
        </p:nvSpPr>
        <p:spPr>
          <a:xfrm>
            <a:off x="3685032" y="4277359"/>
            <a:ext cx="219456" cy="150368"/>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4453127"/>
            <a:ext cx="6309360" cy="658368"/>
          </a:xfrm>
          <a:prstGeom prst="roundRect">
            <a:avLst>
              <a:gd name="adj" fmla="val 8000"/>
            </a:avLst>
          </a:prstGeom>
          <a:solidFill>
            <a:srgbClr val="147A7A"/>
          </a:solidFill>
          <a:ln w="952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lIns="177800" tIns="76200" bIns="76200"/>
          <a:lstStyle/>
          <a:p>
            <a:pPr algn="ctr"/>
            <a:r>
              <a:rPr b="1" sz="1500">
                <a:solidFill>
                  <a:srgbClr val="FFFFFF"/>
                </a:solidFill>
              </a:rPr>
              <a:t>Intelligence   </a:t>
            </a:r>
            <a:r>
              <a:rPr sz="1250">
                <a:solidFill>
                  <a:srgbClr val="E8ECF1"/>
                </a:solidFill>
              </a:rPr>
              <a:t>Anthropic Claude API  +  ChromaDB RAG (sentence-transformer embeddings)</a:t>
            </a:r>
          </a:p>
        </p:txBody>
      </p:sp>
      <p:sp>
        <p:nvSpPr>
          <p:cNvPr id="13" name="Rounded Rectangle 12"/>
          <p:cNvSpPr/>
          <p:nvPr/>
        </p:nvSpPr>
        <p:spPr>
          <a:xfrm>
            <a:off x="7315200" y="1874519"/>
            <a:ext cx="4206240" cy="4160520"/>
          </a:xfrm>
          <a:prstGeom prst="roundRect">
            <a:avLst>
              <a:gd name="adj" fmla="val 3000"/>
            </a:avLst>
          </a:prstGeom>
          <a:solidFill>
            <a:srgbClr val="223352"/>
          </a:solidFill>
          <a:ln w="12700">
            <a:solidFill>
              <a:srgbClr val="147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2039111"/>
            <a:ext cx="3657600" cy="365760"/>
          </a:xfrm>
          <a:prstGeom prst="rect">
            <a:avLst/>
          </a:prstGeom>
          <a:noFill/>
        </p:spPr>
        <p:txBody>
          <a:bodyPr wrap="square" anchor="t">
            <a:spAutoFit/>
          </a:bodyPr>
          <a:lstStyle/>
          <a:p>
            <a:pPr algn="l">
              <a:lnSpc>
                <a:spcPct val="100000"/>
              </a:lnSpc>
            </a:pPr>
            <a:r>
              <a:rPr sz="1400" b="1" i="0">
                <a:solidFill>
                  <a:srgbClr val="1A9C9C"/>
                </a:solidFill>
                <a:latin typeface="Calibri"/>
              </a:rPr>
              <a:t>External data feeding KIP</a:t>
            </a:r>
          </a:p>
        </p:txBody>
      </p:sp>
      <p:sp>
        <p:nvSpPr>
          <p:cNvPr id="15" name="TextBox 14"/>
          <p:cNvSpPr txBox="1"/>
          <p:nvPr/>
        </p:nvSpPr>
        <p:spPr>
          <a:xfrm>
            <a:off x="7589520" y="2514599"/>
            <a:ext cx="3657600" cy="3383280"/>
          </a:xfrm>
          <a:prstGeom prst="rect">
            <a:avLst/>
          </a:prstGeom>
          <a:noFill/>
        </p:spPr>
        <p:txBody>
          <a:bodyPr wrap="square">
            <a:spAutoFit/>
          </a:bodyPr>
          <a:lstStyle/>
          <a:p>
            <a:pPr>
              <a:lnSpc>
                <a:spcPct val="108000"/>
              </a:lnSpc>
              <a:spcAft>
                <a:spcPts val="1400"/>
              </a:spcAft>
            </a:pPr>
            <a:r>
              <a:rPr sz="1300" b="1">
                <a:solidFill>
                  <a:srgbClr val="1A9C9C"/>
                </a:solidFill>
                <a:latin typeface="Calibri"/>
              </a:rPr>
              <a:t>▸  </a:t>
            </a:r>
            <a:r>
              <a:rPr sz="1300" b="0">
                <a:solidFill>
                  <a:srgbClr val="E8ECF1"/>
                </a:solidFill>
                <a:latin typeface="Calibri"/>
              </a:rPr>
              <a:t>OpenStreetMap Overpass API — local business density</a:t>
            </a:r>
          </a:p>
          <a:p>
            <a:pPr>
              <a:lnSpc>
                <a:spcPct val="108000"/>
              </a:lnSpc>
              <a:spcAft>
                <a:spcPts val="1400"/>
              </a:spcAft>
            </a:pPr>
            <a:r>
              <a:rPr sz="1300" b="1">
                <a:solidFill>
                  <a:srgbClr val="1A9C9C"/>
                </a:solidFill>
                <a:latin typeface="Calibri"/>
              </a:rPr>
              <a:t>▸  </a:t>
            </a:r>
            <a:r>
              <a:rPr sz="1300" b="0">
                <a:solidFill>
                  <a:srgbClr val="E8ECF1"/>
                </a:solidFill>
                <a:latin typeface="Calibri"/>
              </a:rPr>
              <a:t>Zambian news RSS feeds + live USD/ZMW &amp; fuel rates</a:t>
            </a:r>
          </a:p>
          <a:p>
            <a:pPr>
              <a:lnSpc>
                <a:spcPct val="108000"/>
              </a:lnSpc>
              <a:spcAft>
                <a:spcPts val="1400"/>
              </a:spcAft>
            </a:pPr>
            <a:r>
              <a:rPr sz="1300" b="1">
                <a:solidFill>
                  <a:srgbClr val="1A9C9C"/>
                </a:solidFill>
                <a:latin typeface="Calibri"/>
              </a:rPr>
              <a:t>▸  </a:t>
            </a:r>
            <a:r>
              <a:rPr sz="1300" b="0">
                <a:solidFill>
                  <a:srgbClr val="E8ECF1"/>
                </a:solidFill>
                <a:latin typeface="Calibri"/>
              </a:rPr>
              <a:t>Curated town/economic knowledge base (RAG corpus)</a:t>
            </a:r>
          </a:p>
          <a:p>
            <a:pPr>
              <a:lnSpc>
                <a:spcPct val="108000"/>
              </a:lnSpc>
              <a:spcAft>
                <a:spcPts val="1400"/>
              </a:spcAft>
            </a:pPr>
            <a:r>
              <a:rPr sz="1300" b="1">
                <a:solidFill>
                  <a:srgbClr val="1A9C9C"/>
                </a:solidFill>
                <a:latin typeface="Calibri"/>
              </a:rPr>
              <a:t>▸  </a:t>
            </a:r>
            <a:r>
              <a:rPr sz="1300" b="0">
                <a:solidFill>
                  <a:srgbClr val="E8ECF1"/>
                </a:solidFill>
                <a:latin typeface="Calibri"/>
              </a:rPr>
              <a:t>Translation API — Bemba, Nyanja, Tonga, Lozi, Tumbuka</a:t>
            </a:r>
          </a:p>
        </p:txBody>
      </p:sp>
      <p:sp>
        <p:nvSpPr>
          <p:cNvPr id="16" name="TextBox 15"/>
          <p:cNvSpPr txBox="1"/>
          <p:nvPr/>
        </p:nvSpPr>
        <p:spPr>
          <a:xfrm>
            <a:off x="640080" y="6446520"/>
            <a:ext cx="5486400" cy="320040"/>
          </a:xfrm>
          <a:prstGeom prst="rect">
            <a:avLst/>
          </a:prstGeom>
          <a:noFill/>
        </p:spPr>
        <p:txBody>
          <a:bodyPr wrap="square" anchor="t">
            <a:spAutoFit/>
          </a:bodyPr>
          <a:lstStyle/>
          <a:p>
            <a:pPr algn="l">
              <a:lnSpc>
                <a:spcPct val="100000"/>
              </a:lnSpc>
            </a:pPr>
            <a:r>
              <a:rPr sz="1000" b="0" i="0">
                <a:solidFill>
                  <a:srgbClr val="9AA5B5"/>
                </a:solidFill>
                <a:latin typeface="Calibri"/>
              </a:rPr>
              <a:t>KIP — Kwacha Intelligence Platform</a:t>
            </a:r>
          </a:p>
        </p:txBody>
      </p:sp>
      <p:sp>
        <p:nvSpPr>
          <p:cNvPr id="17" name="TextBox 16"/>
          <p:cNvSpPr txBox="1"/>
          <p:nvPr/>
        </p:nvSpPr>
        <p:spPr>
          <a:xfrm>
            <a:off x="10881360" y="6446520"/>
            <a:ext cx="640080" cy="320040"/>
          </a:xfrm>
          <a:prstGeom prst="rect">
            <a:avLst/>
          </a:prstGeom>
          <a:noFill/>
        </p:spPr>
        <p:txBody>
          <a:bodyPr wrap="square" anchor="t">
            <a:spAutoFit/>
          </a:bodyPr>
          <a:lstStyle/>
          <a:p>
            <a:pPr algn="r">
              <a:lnSpc>
                <a:spcPct val="100000"/>
              </a:lnSpc>
            </a:pPr>
            <a:r>
              <a:rPr sz="1000" b="0" i="0">
                <a:solidFill>
                  <a:srgbClr val="9AA5B5"/>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anchor="t">
            <a:spAutoFit/>
          </a:bodyPr>
          <a:lstStyle/>
          <a:p>
            <a:pPr algn="l">
              <a:lnSpc>
                <a:spcPct val="100000"/>
              </a:lnSpc>
            </a:pPr>
            <a:r>
              <a:rPr sz="1300" b="1" i="0">
                <a:solidFill>
                  <a:srgbClr val="1A9C9C"/>
                </a:solidFill>
                <a:latin typeface="Calibri"/>
              </a:rPr>
              <a:t>FEATURE 1</a:t>
            </a:r>
          </a:p>
        </p:txBody>
      </p:sp>
      <p:sp>
        <p:nvSpPr>
          <p:cNvPr id="4" name="TextBox 3"/>
          <p:cNvSpPr txBox="1"/>
          <p:nvPr/>
        </p:nvSpPr>
        <p:spPr>
          <a:xfrm>
            <a:off x="640080" y="822960"/>
            <a:ext cx="10881360" cy="822960"/>
          </a:xfrm>
          <a:prstGeom prst="rect">
            <a:avLst/>
          </a:prstGeom>
          <a:noFill/>
        </p:spPr>
        <p:txBody>
          <a:bodyPr wrap="square" anchor="t">
            <a:spAutoFit/>
          </a:bodyPr>
          <a:lstStyle/>
          <a:p>
            <a:pPr algn="l">
              <a:lnSpc>
                <a:spcPct val="100000"/>
              </a:lnSpc>
            </a:pPr>
            <a:r>
              <a:rPr sz="3200" b="1" i="0">
                <a:solidFill>
                  <a:srgbClr val="FFFFFF"/>
                </a:solidFill>
                <a:latin typeface="Calibri"/>
              </a:rPr>
              <a:t>AI Business Advisor — “K-BIG-1”</a:t>
            </a:r>
          </a:p>
        </p:txBody>
      </p:sp>
      <p:sp>
        <p:nvSpPr>
          <p:cNvPr id="5" name="Rectangle 4"/>
          <p:cNvSpPr/>
          <p:nvPr/>
        </p:nvSpPr>
        <p:spPr>
          <a:xfrm>
            <a:off x="640080" y="1508760"/>
            <a:ext cx="1828800" cy="38100"/>
          </a:xfrm>
          <a:prstGeom prst="rect">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6675120" cy="914400"/>
          </a:xfrm>
          <a:prstGeom prst="rect">
            <a:avLst/>
          </a:prstGeom>
          <a:noFill/>
        </p:spPr>
        <p:txBody>
          <a:bodyPr wrap="square" anchor="t">
            <a:spAutoFit/>
          </a:bodyPr>
          <a:lstStyle/>
          <a:p>
            <a:pPr algn="l">
              <a:lnSpc>
                <a:spcPct val="118000"/>
              </a:lnSpc>
            </a:pPr>
            <a:r>
              <a:rPr sz="1500" b="0" i="0">
                <a:solidFill>
                  <a:srgbClr val="E8ECF1"/>
                </a:solidFill>
                <a:latin typeface="Calibri"/>
              </a:rPr>
              <a:t>A chat-based advisor that proposes and refines business ideas, grounded in curated Zambian economic and regulatory data rather than generic AI knowledge.</a:t>
            </a:r>
          </a:p>
        </p:txBody>
      </p:sp>
      <p:sp>
        <p:nvSpPr>
          <p:cNvPr id="7" name="TextBox 6"/>
          <p:cNvSpPr txBox="1"/>
          <p:nvPr/>
        </p:nvSpPr>
        <p:spPr>
          <a:xfrm>
            <a:off x="640080" y="2606040"/>
            <a:ext cx="3657600" cy="365760"/>
          </a:xfrm>
          <a:prstGeom prst="rect">
            <a:avLst/>
          </a:prstGeom>
          <a:noFill/>
        </p:spPr>
        <p:txBody>
          <a:bodyPr wrap="square" anchor="t">
            <a:spAutoFit/>
          </a:bodyPr>
          <a:lstStyle/>
          <a:p>
            <a:pPr algn="l">
              <a:lnSpc>
                <a:spcPct val="100000"/>
              </a:lnSpc>
            </a:pPr>
            <a:r>
              <a:rPr sz="1200" b="1" i="0">
                <a:solidFill>
                  <a:srgbClr val="1A9C9C"/>
                </a:solidFill>
                <a:latin typeface="Calibri"/>
              </a:rPr>
              <a:t>HOW IT'S IMPLEMENTED</a:t>
            </a:r>
          </a:p>
        </p:txBody>
      </p:sp>
      <p:sp>
        <p:nvSpPr>
          <p:cNvPr id="8" name="TextBox 7"/>
          <p:cNvSpPr txBox="1"/>
          <p:nvPr/>
        </p:nvSpPr>
        <p:spPr>
          <a:xfrm>
            <a:off x="640080" y="2971800"/>
            <a:ext cx="6675120" cy="3291840"/>
          </a:xfrm>
          <a:prstGeom prst="rect">
            <a:avLst/>
          </a:prstGeom>
          <a:noFill/>
        </p:spPr>
        <p:txBody>
          <a:bodyPr wrap="square">
            <a:spAutoFit/>
          </a:bodyPr>
          <a:lstStyle/>
          <a:p>
            <a:pPr>
              <a:lnSpc>
                <a:spcPct val="108000"/>
              </a:lnSpc>
              <a:spcAft>
                <a:spcPts val="1200"/>
              </a:spcAft>
            </a:pPr>
            <a:r>
              <a:rPr sz="1450" b="1">
                <a:solidFill>
                  <a:srgbClr val="1A9C9C"/>
                </a:solidFill>
                <a:latin typeface="Calibri"/>
              </a:rPr>
              <a:t>▸  </a:t>
            </a:r>
            <a:r>
              <a:rPr sz="1450" b="1">
                <a:solidFill>
                  <a:srgbClr val="FFFFFF"/>
                </a:solidFill>
                <a:latin typeface="Calibri"/>
              </a:rPr>
              <a:t>Retrieval-augmented generation: </a:t>
            </a:r>
            <a:r>
              <a:rPr sz="1450" b="0">
                <a:solidFill>
                  <a:srgbClr val="E8ECF1"/>
                </a:solidFill>
                <a:latin typeface="Calibri"/>
              </a:rPr>
              <a:t>ChromaDB vector search over a curated Zambian business/economics knowledge base returns the top matching passages per query.</a:t>
            </a:r>
          </a:p>
          <a:p>
            <a:pPr>
              <a:lnSpc>
                <a:spcPct val="108000"/>
              </a:lnSpc>
              <a:spcAft>
                <a:spcPts val="1200"/>
              </a:spcAft>
            </a:pPr>
            <a:r>
              <a:rPr sz="1450" b="1">
                <a:solidFill>
                  <a:srgbClr val="1A9C9C"/>
                </a:solidFill>
                <a:latin typeface="Calibri"/>
              </a:rPr>
              <a:t>▸  </a:t>
            </a:r>
            <a:r>
              <a:rPr sz="1450" b="1">
                <a:solidFill>
                  <a:srgbClr val="FFFFFF"/>
                </a:solidFill>
                <a:latin typeface="Calibri"/>
              </a:rPr>
              <a:t>Location intelligence: </a:t>
            </a:r>
            <a:r>
              <a:rPr sz="1450" b="0">
                <a:solidFill>
                  <a:srgbClr val="E8ECF1"/>
                </a:solidFill>
                <a:latin typeface="Calibri"/>
              </a:rPr>
              <a:t>town/neighbourhood economic profiles and OpenStreetMap business-density data are resolved and injected into the prompt.</a:t>
            </a:r>
          </a:p>
          <a:p>
            <a:pPr>
              <a:lnSpc>
                <a:spcPct val="108000"/>
              </a:lnSpc>
              <a:spcAft>
                <a:spcPts val="1200"/>
              </a:spcAft>
            </a:pPr>
            <a:r>
              <a:rPr sz="1450" b="1">
                <a:solidFill>
                  <a:srgbClr val="1A9C9C"/>
                </a:solidFill>
                <a:latin typeface="Calibri"/>
              </a:rPr>
              <a:t>▸  </a:t>
            </a:r>
            <a:r>
              <a:rPr sz="1450" b="1">
                <a:solidFill>
                  <a:srgbClr val="FFFFFF"/>
                </a:solidFill>
                <a:latin typeface="Calibri"/>
              </a:rPr>
              <a:t>Grounded generation: </a:t>
            </a:r>
            <a:r>
              <a:rPr sz="1450" b="0">
                <a:solidFill>
                  <a:srgbClr val="E8ECF1"/>
                </a:solidFill>
                <a:latin typeface="Calibri"/>
              </a:rPr>
              <a:t>Claude (claude-sonnet-4-6) receives the assembled context plus conversation history, with its server-side web search tool enabled.</a:t>
            </a:r>
          </a:p>
          <a:p>
            <a:pPr>
              <a:lnSpc>
                <a:spcPct val="108000"/>
              </a:lnSpc>
              <a:spcAft>
                <a:spcPts val="1200"/>
              </a:spcAft>
            </a:pPr>
            <a:r>
              <a:rPr sz="1450" b="1">
                <a:solidFill>
                  <a:srgbClr val="1A9C9C"/>
                </a:solidFill>
                <a:latin typeface="Calibri"/>
              </a:rPr>
              <a:t>▸  </a:t>
            </a:r>
            <a:r>
              <a:rPr sz="1450" b="1">
                <a:solidFill>
                  <a:srgbClr val="FFFFFF"/>
                </a:solidFill>
                <a:latin typeface="Calibri"/>
              </a:rPr>
              <a:t>Structured detection: </a:t>
            </a:r>
            <a:r>
              <a:rPr sz="1450" b="0">
                <a:solidFill>
                  <a:srgbClr val="E8ECF1"/>
                </a:solidFill>
                <a:latin typeface="Calibri"/>
              </a:rPr>
              <a:t>replies are scanned for a fixed recommendation header, and matching ideas are automatically parsed and saved to the database.</a:t>
            </a:r>
          </a:p>
        </p:txBody>
      </p:sp>
      <p:sp>
        <p:nvSpPr>
          <p:cNvPr id="9" name="Rounded Rectangle 8"/>
          <p:cNvSpPr/>
          <p:nvPr/>
        </p:nvSpPr>
        <p:spPr>
          <a:xfrm>
            <a:off x="7772400" y="1783080"/>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User message</a:t>
            </a:r>
          </a:p>
        </p:txBody>
      </p:sp>
      <p:sp>
        <p:nvSpPr>
          <p:cNvPr id="10" name="Down Arrow 9"/>
          <p:cNvSpPr/>
          <p:nvPr/>
        </p:nvSpPr>
        <p:spPr>
          <a:xfrm>
            <a:off x="9555479" y="2560320"/>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0" y="2724912"/>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RAG search
(ChromaDB)</a:t>
            </a:r>
          </a:p>
        </p:txBody>
      </p:sp>
      <p:sp>
        <p:nvSpPr>
          <p:cNvPr id="12" name="Down Arrow 11"/>
          <p:cNvSpPr/>
          <p:nvPr/>
        </p:nvSpPr>
        <p:spPr>
          <a:xfrm>
            <a:off x="9555479" y="3502152"/>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0" y="3666744"/>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 Location data</a:t>
            </a:r>
          </a:p>
        </p:txBody>
      </p:sp>
      <p:sp>
        <p:nvSpPr>
          <p:cNvPr id="14" name="Down Arrow 13"/>
          <p:cNvSpPr/>
          <p:nvPr/>
        </p:nvSpPr>
        <p:spPr>
          <a:xfrm>
            <a:off x="9555479" y="4443984"/>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0" y="4608576"/>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Claude API call</a:t>
            </a:r>
          </a:p>
        </p:txBody>
      </p:sp>
      <p:sp>
        <p:nvSpPr>
          <p:cNvPr id="16" name="Down Arrow 15"/>
          <p:cNvSpPr/>
          <p:nvPr/>
        </p:nvSpPr>
        <p:spPr>
          <a:xfrm>
            <a:off x="9555479" y="5385816"/>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5550408"/>
            <a:ext cx="3749039" cy="777240"/>
          </a:xfrm>
          <a:prstGeom prst="roundRect">
            <a:avLst>
              <a:gd name="adj" fmla="val 50000"/>
            </a:avLst>
          </a:prstGeom>
          <a:solidFill>
            <a:srgbClr val="147A7A"/>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Idea saved to DB</a:t>
            </a:r>
          </a:p>
        </p:txBody>
      </p:sp>
      <p:sp>
        <p:nvSpPr>
          <p:cNvPr id="18" name="TextBox 17"/>
          <p:cNvSpPr txBox="1"/>
          <p:nvPr/>
        </p:nvSpPr>
        <p:spPr>
          <a:xfrm>
            <a:off x="640080" y="6446520"/>
            <a:ext cx="5486400" cy="320040"/>
          </a:xfrm>
          <a:prstGeom prst="rect">
            <a:avLst/>
          </a:prstGeom>
          <a:noFill/>
        </p:spPr>
        <p:txBody>
          <a:bodyPr wrap="square" anchor="t">
            <a:spAutoFit/>
          </a:bodyPr>
          <a:lstStyle/>
          <a:p>
            <a:pPr algn="l">
              <a:lnSpc>
                <a:spcPct val="100000"/>
              </a:lnSpc>
            </a:pPr>
            <a:r>
              <a:rPr sz="1000" b="0" i="0">
                <a:solidFill>
                  <a:srgbClr val="9AA5B5"/>
                </a:solidFill>
                <a:latin typeface="Calibri"/>
              </a:rPr>
              <a:t>KIP — Kwacha Intelligence Platform</a:t>
            </a:r>
          </a:p>
        </p:txBody>
      </p:sp>
      <p:sp>
        <p:nvSpPr>
          <p:cNvPr id="19" name="TextBox 18"/>
          <p:cNvSpPr txBox="1"/>
          <p:nvPr/>
        </p:nvSpPr>
        <p:spPr>
          <a:xfrm>
            <a:off x="10881360" y="6446520"/>
            <a:ext cx="640080" cy="320040"/>
          </a:xfrm>
          <a:prstGeom prst="rect">
            <a:avLst/>
          </a:prstGeom>
          <a:noFill/>
        </p:spPr>
        <p:txBody>
          <a:bodyPr wrap="square" anchor="t">
            <a:spAutoFit/>
          </a:bodyPr>
          <a:lstStyle/>
          <a:p>
            <a:pPr algn="r">
              <a:lnSpc>
                <a:spcPct val="100000"/>
              </a:lnSpc>
            </a:pPr>
            <a:r>
              <a:rPr sz="1000" b="0" i="0">
                <a:solidFill>
                  <a:srgbClr val="9AA5B5"/>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anchor="t">
            <a:spAutoFit/>
          </a:bodyPr>
          <a:lstStyle/>
          <a:p>
            <a:pPr algn="l">
              <a:lnSpc>
                <a:spcPct val="100000"/>
              </a:lnSpc>
            </a:pPr>
            <a:r>
              <a:rPr sz="1300" b="1" i="0">
                <a:solidFill>
                  <a:srgbClr val="1A9C9C"/>
                </a:solidFill>
                <a:latin typeface="Calibri"/>
              </a:rPr>
              <a:t>FEATURE 2</a:t>
            </a:r>
          </a:p>
        </p:txBody>
      </p:sp>
      <p:sp>
        <p:nvSpPr>
          <p:cNvPr id="4" name="TextBox 3"/>
          <p:cNvSpPr txBox="1"/>
          <p:nvPr/>
        </p:nvSpPr>
        <p:spPr>
          <a:xfrm>
            <a:off x="640080" y="822960"/>
            <a:ext cx="10881360" cy="822960"/>
          </a:xfrm>
          <a:prstGeom prst="rect">
            <a:avLst/>
          </a:prstGeom>
          <a:noFill/>
        </p:spPr>
        <p:txBody>
          <a:bodyPr wrap="square" anchor="t">
            <a:spAutoFit/>
          </a:bodyPr>
          <a:lstStyle/>
          <a:p>
            <a:pPr algn="l">
              <a:lnSpc>
                <a:spcPct val="100000"/>
              </a:lnSpc>
            </a:pPr>
            <a:r>
              <a:rPr sz="3200" b="1" i="0">
                <a:solidFill>
                  <a:srgbClr val="FFFFFF"/>
                </a:solidFill>
                <a:latin typeface="Calibri"/>
              </a:rPr>
              <a:t>Business Dashboard &amp; Daily Operations</a:t>
            </a:r>
          </a:p>
        </p:txBody>
      </p:sp>
      <p:sp>
        <p:nvSpPr>
          <p:cNvPr id="5" name="Rectangle 4"/>
          <p:cNvSpPr/>
          <p:nvPr/>
        </p:nvSpPr>
        <p:spPr>
          <a:xfrm>
            <a:off x="640080" y="1508760"/>
            <a:ext cx="1828800" cy="38100"/>
          </a:xfrm>
          <a:prstGeom prst="rect">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6675120" cy="914400"/>
          </a:xfrm>
          <a:prstGeom prst="rect">
            <a:avLst/>
          </a:prstGeom>
          <a:noFill/>
        </p:spPr>
        <p:txBody>
          <a:bodyPr wrap="square" anchor="t">
            <a:spAutoFit/>
          </a:bodyPr>
          <a:lstStyle/>
          <a:p>
            <a:pPr algn="l">
              <a:lnSpc>
                <a:spcPct val="118000"/>
              </a:lnSpc>
            </a:pPr>
            <a:r>
              <a:rPr sz="1500" b="0" i="0">
                <a:solidFill>
                  <a:srgbClr val="E8ECF1"/>
                </a:solidFill>
                <a:latin typeface="Calibri"/>
              </a:rPr>
              <a:t>Converts an accepted idea into a live business: a generated launch plan, daily operating logs, and forecasts drawn from the owner's own numbers.</a:t>
            </a:r>
          </a:p>
        </p:txBody>
      </p:sp>
      <p:sp>
        <p:nvSpPr>
          <p:cNvPr id="7" name="TextBox 6"/>
          <p:cNvSpPr txBox="1"/>
          <p:nvPr/>
        </p:nvSpPr>
        <p:spPr>
          <a:xfrm>
            <a:off x="640080" y="2606040"/>
            <a:ext cx="3657600" cy="365760"/>
          </a:xfrm>
          <a:prstGeom prst="rect">
            <a:avLst/>
          </a:prstGeom>
          <a:noFill/>
        </p:spPr>
        <p:txBody>
          <a:bodyPr wrap="square" anchor="t">
            <a:spAutoFit/>
          </a:bodyPr>
          <a:lstStyle/>
          <a:p>
            <a:pPr algn="l">
              <a:lnSpc>
                <a:spcPct val="100000"/>
              </a:lnSpc>
            </a:pPr>
            <a:r>
              <a:rPr sz="1200" b="1" i="0">
                <a:solidFill>
                  <a:srgbClr val="1A9C9C"/>
                </a:solidFill>
                <a:latin typeface="Calibri"/>
              </a:rPr>
              <a:t>HOW IT'S IMPLEMENTED</a:t>
            </a:r>
          </a:p>
        </p:txBody>
      </p:sp>
      <p:sp>
        <p:nvSpPr>
          <p:cNvPr id="8" name="TextBox 7"/>
          <p:cNvSpPr txBox="1"/>
          <p:nvPr/>
        </p:nvSpPr>
        <p:spPr>
          <a:xfrm>
            <a:off x="640080" y="2971800"/>
            <a:ext cx="6675120" cy="3291840"/>
          </a:xfrm>
          <a:prstGeom prst="rect">
            <a:avLst/>
          </a:prstGeom>
          <a:noFill/>
        </p:spPr>
        <p:txBody>
          <a:bodyPr wrap="square">
            <a:spAutoFit/>
          </a:bodyPr>
          <a:lstStyle/>
          <a:p>
            <a:pPr>
              <a:lnSpc>
                <a:spcPct val="108000"/>
              </a:lnSpc>
              <a:spcAft>
                <a:spcPts val="1200"/>
              </a:spcAft>
            </a:pPr>
            <a:r>
              <a:rPr sz="1450" b="1">
                <a:solidFill>
                  <a:srgbClr val="1A9C9C"/>
                </a:solidFill>
                <a:latin typeface="Calibri"/>
              </a:rPr>
              <a:t>▸  </a:t>
            </a:r>
            <a:r>
              <a:rPr sz="1450" b="1">
                <a:solidFill>
                  <a:srgbClr val="FFFFFF"/>
                </a:solidFill>
                <a:latin typeface="Calibri"/>
              </a:rPr>
              <a:t>AI launch plan: </a:t>
            </a:r>
            <a:r>
              <a:rPr sz="1450" b="0">
                <a:solidFill>
                  <a:srgbClr val="E8ECF1"/>
                </a:solidFill>
                <a:latin typeface="Calibri"/>
              </a:rPr>
              <a:t>Claude generates a week-by-week plan referencing real Zambian registration costs, taxes, and financing sources.</a:t>
            </a:r>
          </a:p>
          <a:p>
            <a:pPr>
              <a:lnSpc>
                <a:spcPct val="108000"/>
              </a:lnSpc>
              <a:spcAft>
                <a:spcPts val="1200"/>
              </a:spcAft>
            </a:pPr>
            <a:r>
              <a:rPr sz="1450" b="1">
                <a:solidFill>
                  <a:srgbClr val="1A9C9C"/>
                </a:solidFill>
                <a:latin typeface="Calibri"/>
              </a:rPr>
              <a:t>▸  </a:t>
            </a:r>
            <a:r>
              <a:rPr sz="1450" b="1">
                <a:solidFill>
                  <a:srgbClr val="FFFFFF"/>
                </a:solidFill>
                <a:latin typeface="Calibri"/>
              </a:rPr>
              <a:t>Daily logging: </a:t>
            </a:r>
            <a:r>
              <a:rPr sz="1450" b="0">
                <a:solidFill>
                  <a:srgbClr val="E8ECF1"/>
                </a:solidFill>
                <a:latin typeface="Calibri"/>
              </a:rPr>
              <a:t>revenue, expenses, customers and stock are captured per day and persisted via SQLAlchemy.</a:t>
            </a:r>
          </a:p>
          <a:p>
            <a:pPr>
              <a:lnSpc>
                <a:spcPct val="108000"/>
              </a:lnSpc>
              <a:spcAft>
                <a:spcPts val="1200"/>
              </a:spcAft>
            </a:pPr>
            <a:r>
              <a:rPr sz="1450" b="1">
                <a:solidFill>
                  <a:srgbClr val="1A9C9C"/>
                </a:solidFill>
                <a:latin typeface="Calibri"/>
              </a:rPr>
              <a:t>▸  </a:t>
            </a:r>
            <a:r>
              <a:rPr sz="1450" b="1">
                <a:solidFill>
                  <a:srgbClr val="FFFFFF"/>
                </a:solidFill>
                <a:latin typeface="Calibri"/>
              </a:rPr>
              <a:t>ML forecasting: </a:t>
            </a:r>
            <a:r>
              <a:rPr sz="1450" b="0">
                <a:solidFill>
                  <a:srgbClr val="E8ECF1"/>
                </a:solidFill>
                <a:latin typeface="Calibri"/>
              </a:rPr>
              <a:t>a scikit-learn linear regression over day-index plus a sine/cosine day-of-week encoding produces a 7-day revenue forecast.</a:t>
            </a:r>
          </a:p>
          <a:p>
            <a:pPr>
              <a:lnSpc>
                <a:spcPct val="108000"/>
              </a:lnSpc>
              <a:spcAft>
                <a:spcPts val="1200"/>
              </a:spcAft>
            </a:pPr>
            <a:r>
              <a:rPr sz="1450" b="1">
                <a:solidFill>
                  <a:srgbClr val="1A9C9C"/>
                </a:solidFill>
                <a:latin typeface="Calibri"/>
              </a:rPr>
              <a:t>▸  </a:t>
            </a:r>
            <a:r>
              <a:rPr sz="1450" b="1">
                <a:solidFill>
                  <a:srgbClr val="FFFFFF"/>
                </a:solidFill>
                <a:latin typeface="Calibri"/>
              </a:rPr>
              <a:t>Grounded coaching: </a:t>
            </a:r>
            <a:r>
              <a:rPr sz="1450" b="0">
                <a:solidFill>
                  <a:srgbClr val="E8ECF1"/>
                </a:solidFill>
                <a:latin typeface="Calibri"/>
              </a:rPr>
              <a:t>each log submission triggers a Claude-generated coaching message that references that day's actual figures.</a:t>
            </a:r>
          </a:p>
        </p:txBody>
      </p:sp>
      <p:sp>
        <p:nvSpPr>
          <p:cNvPr id="9" name="Rounded Rectangle 8"/>
          <p:cNvSpPr/>
          <p:nvPr/>
        </p:nvSpPr>
        <p:spPr>
          <a:xfrm>
            <a:off x="7772400" y="1783080"/>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Accepted idea</a:t>
            </a:r>
          </a:p>
        </p:txBody>
      </p:sp>
      <p:sp>
        <p:nvSpPr>
          <p:cNvPr id="10" name="Down Arrow 9"/>
          <p:cNvSpPr/>
          <p:nvPr/>
        </p:nvSpPr>
        <p:spPr>
          <a:xfrm>
            <a:off x="9555479" y="2560320"/>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0" y="2724912"/>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AI launch plan
(Claude)</a:t>
            </a:r>
          </a:p>
        </p:txBody>
      </p:sp>
      <p:sp>
        <p:nvSpPr>
          <p:cNvPr id="12" name="Down Arrow 11"/>
          <p:cNvSpPr/>
          <p:nvPr/>
        </p:nvSpPr>
        <p:spPr>
          <a:xfrm>
            <a:off x="9555479" y="3502152"/>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0" y="3666744"/>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Daily log entry</a:t>
            </a:r>
          </a:p>
        </p:txBody>
      </p:sp>
      <p:sp>
        <p:nvSpPr>
          <p:cNvPr id="14" name="Down Arrow 13"/>
          <p:cNvSpPr/>
          <p:nvPr/>
        </p:nvSpPr>
        <p:spPr>
          <a:xfrm>
            <a:off x="9555479" y="4443984"/>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0" y="4608576"/>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ML forecast
(scikit-learn)</a:t>
            </a:r>
          </a:p>
        </p:txBody>
      </p:sp>
      <p:sp>
        <p:nvSpPr>
          <p:cNvPr id="16" name="Down Arrow 15"/>
          <p:cNvSpPr/>
          <p:nvPr/>
        </p:nvSpPr>
        <p:spPr>
          <a:xfrm>
            <a:off x="9555479" y="5385816"/>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5550408"/>
            <a:ext cx="3749039" cy="777240"/>
          </a:xfrm>
          <a:prstGeom prst="roundRect">
            <a:avLst>
              <a:gd name="adj" fmla="val 50000"/>
            </a:avLst>
          </a:prstGeom>
          <a:solidFill>
            <a:srgbClr val="147A7A"/>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Coaching message</a:t>
            </a:r>
          </a:p>
        </p:txBody>
      </p:sp>
      <p:sp>
        <p:nvSpPr>
          <p:cNvPr id="18" name="TextBox 17"/>
          <p:cNvSpPr txBox="1"/>
          <p:nvPr/>
        </p:nvSpPr>
        <p:spPr>
          <a:xfrm>
            <a:off x="640080" y="6446520"/>
            <a:ext cx="5486400" cy="320040"/>
          </a:xfrm>
          <a:prstGeom prst="rect">
            <a:avLst/>
          </a:prstGeom>
          <a:noFill/>
        </p:spPr>
        <p:txBody>
          <a:bodyPr wrap="square" anchor="t">
            <a:spAutoFit/>
          </a:bodyPr>
          <a:lstStyle/>
          <a:p>
            <a:pPr algn="l">
              <a:lnSpc>
                <a:spcPct val="100000"/>
              </a:lnSpc>
            </a:pPr>
            <a:r>
              <a:rPr sz="1000" b="0" i="0">
                <a:solidFill>
                  <a:srgbClr val="9AA5B5"/>
                </a:solidFill>
                <a:latin typeface="Calibri"/>
              </a:rPr>
              <a:t>KIP — Kwacha Intelligence Platform</a:t>
            </a:r>
          </a:p>
        </p:txBody>
      </p:sp>
      <p:sp>
        <p:nvSpPr>
          <p:cNvPr id="19" name="TextBox 18"/>
          <p:cNvSpPr txBox="1"/>
          <p:nvPr/>
        </p:nvSpPr>
        <p:spPr>
          <a:xfrm>
            <a:off x="10881360" y="6446520"/>
            <a:ext cx="640080" cy="320040"/>
          </a:xfrm>
          <a:prstGeom prst="rect">
            <a:avLst/>
          </a:prstGeom>
          <a:noFill/>
        </p:spPr>
        <p:txBody>
          <a:bodyPr wrap="square" anchor="t">
            <a:spAutoFit/>
          </a:bodyPr>
          <a:lstStyle/>
          <a:p>
            <a:pPr algn="r">
              <a:lnSpc>
                <a:spcPct val="100000"/>
              </a:lnSpc>
            </a:pPr>
            <a:r>
              <a:rPr sz="1000" b="0" i="0">
                <a:solidFill>
                  <a:srgbClr val="9AA5B5"/>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anchor="t">
            <a:spAutoFit/>
          </a:bodyPr>
          <a:lstStyle/>
          <a:p>
            <a:pPr algn="l">
              <a:lnSpc>
                <a:spcPct val="100000"/>
              </a:lnSpc>
            </a:pPr>
            <a:r>
              <a:rPr sz="1300" b="1" i="0">
                <a:solidFill>
                  <a:srgbClr val="1A9C9C"/>
                </a:solidFill>
                <a:latin typeface="Calibri"/>
              </a:rPr>
              <a:t>FEATURE 3</a:t>
            </a:r>
          </a:p>
        </p:txBody>
      </p:sp>
      <p:sp>
        <p:nvSpPr>
          <p:cNvPr id="4" name="TextBox 3"/>
          <p:cNvSpPr txBox="1"/>
          <p:nvPr/>
        </p:nvSpPr>
        <p:spPr>
          <a:xfrm>
            <a:off x="640080" y="822960"/>
            <a:ext cx="10881360" cy="822960"/>
          </a:xfrm>
          <a:prstGeom prst="rect">
            <a:avLst/>
          </a:prstGeom>
          <a:noFill/>
        </p:spPr>
        <p:txBody>
          <a:bodyPr wrap="square" anchor="t">
            <a:spAutoFit/>
          </a:bodyPr>
          <a:lstStyle/>
          <a:p>
            <a:pPr algn="l">
              <a:lnSpc>
                <a:spcPct val="100000"/>
              </a:lnSpc>
            </a:pPr>
            <a:r>
              <a:rPr sz="3200" b="1" i="0">
                <a:solidFill>
                  <a:srgbClr val="FFFFFF"/>
                </a:solidFill>
                <a:latin typeface="Calibri"/>
              </a:rPr>
              <a:t>BizSim — Gamified Business Simulation</a:t>
            </a:r>
          </a:p>
        </p:txBody>
      </p:sp>
      <p:sp>
        <p:nvSpPr>
          <p:cNvPr id="5" name="Rectangle 4"/>
          <p:cNvSpPr/>
          <p:nvPr/>
        </p:nvSpPr>
        <p:spPr>
          <a:xfrm>
            <a:off x="640080" y="1508760"/>
            <a:ext cx="1828800" cy="38100"/>
          </a:xfrm>
          <a:prstGeom prst="rect">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6675120" cy="914400"/>
          </a:xfrm>
          <a:prstGeom prst="rect">
            <a:avLst/>
          </a:prstGeom>
          <a:noFill/>
        </p:spPr>
        <p:txBody>
          <a:bodyPr wrap="square" anchor="t">
            <a:spAutoFit/>
          </a:bodyPr>
          <a:lstStyle/>
          <a:p>
            <a:pPr algn="l">
              <a:lnSpc>
                <a:spcPct val="118000"/>
              </a:lnSpc>
            </a:pPr>
            <a:r>
              <a:rPr sz="1500" b="0" i="0">
                <a:solidFill>
                  <a:srgbClr val="E8ECF1"/>
                </a:solidFill>
                <a:latin typeface="Calibri"/>
              </a:rPr>
              <a:t>A 30-day, story-driven survival simulation across six Zambian small-business types, each with inherited debt and a named AI competitor.</a:t>
            </a:r>
          </a:p>
        </p:txBody>
      </p:sp>
      <p:sp>
        <p:nvSpPr>
          <p:cNvPr id="7" name="TextBox 6"/>
          <p:cNvSpPr txBox="1"/>
          <p:nvPr/>
        </p:nvSpPr>
        <p:spPr>
          <a:xfrm>
            <a:off x="640080" y="2606040"/>
            <a:ext cx="3657600" cy="365760"/>
          </a:xfrm>
          <a:prstGeom prst="rect">
            <a:avLst/>
          </a:prstGeom>
          <a:noFill/>
        </p:spPr>
        <p:txBody>
          <a:bodyPr wrap="square" anchor="t">
            <a:spAutoFit/>
          </a:bodyPr>
          <a:lstStyle/>
          <a:p>
            <a:pPr algn="l">
              <a:lnSpc>
                <a:spcPct val="100000"/>
              </a:lnSpc>
            </a:pPr>
            <a:r>
              <a:rPr sz="1200" b="1" i="0">
                <a:solidFill>
                  <a:srgbClr val="1A9C9C"/>
                </a:solidFill>
                <a:latin typeface="Calibri"/>
              </a:rPr>
              <a:t>HOW IT'S IMPLEMENTED</a:t>
            </a:r>
          </a:p>
        </p:txBody>
      </p:sp>
      <p:sp>
        <p:nvSpPr>
          <p:cNvPr id="8" name="TextBox 7"/>
          <p:cNvSpPr txBox="1"/>
          <p:nvPr/>
        </p:nvSpPr>
        <p:spPr>
          <a:xfrm>
            <a:off x="640080" y="2971800"/>
            <a:ext cx="6675120" cy="3291840"/>
          </a:xfrm>
          <a:prstGeom prst="rect">
            <a:avLst/>
          </a:prstGeom>
          <a:noFill/>
        </p:spPr>
        <p:txBody>
          <a:bodyPr wrap="square">
            <a:spAutoFit/>
          </a:bodyPr>
          <a:lstStyle/>
          <a:p>
            <a:pPr>
              <a:lnSpc>
                <a:spcPct val="108000"/>
              </a:lnSpc>
              <a:spcAft>
                <a:spcPts val="1200"/>
              </a:spcAft>
            </a:pPr>
            <a:r>
              <a:rPr sz="1450" b="1">
                <a:solidFill>
                  <a:srgbClr val="1A9C9C"/>
                </a:solidFill>
                <a:latin typeface="Calibri"/>
              </a:rPr>
              <a:t>▸  </a:t>
            </a:r>
            <a:r>
              <a:rPr sz="1450" b="1">
                <a:solidFill>
                  <a:srgbClr val="FFFFFF"/>
                </a:solidFill>
                <a:latin typeface="Calibri"/>
              </a:rPr>
              <a:t>Deterministic events: </a:t>
            </a:r>
            <a:r>
              <a:rPr sz="1450" b="0">
                <a:solidFill>
                  <a:srgbClr val="E8ECF1"/>
                </a:solidFill>
                <a:latin typeface="Calibri"/>
              </a:rPr>
              <a:t>a seeded random generator (per session and day) makes the event system reproducible and fair.</a:t>
            </a:r>
          </a:p>
          <a:p>
            <a:pPr>
              <a:lnSpc>
                <a:spcPct val="108000"/>
              </a:lnSpc>
              <a:spcAft>
                <a:spcPts val="1200"/>
              </a:spcAft>
            </a:pPr>
            <a:r>
              <a:rPr sz="1450" b="1">
                <a:solidFill>
                  <a:srgbClr val="1A9C9C"/>
                </a:solidFill>
                <a:latin typeface="Calibri"/>
              </a:rPr>
              <a:t>▸  </a:t>
            </a:r>
            <a:r>
              <a:rPr sz="1450" b="1">
                <a:solidFill>
                  <a:srgbClr val="FFFFFF"/>
                </a:solidFill>
                <a:latin typeface="Calibri"/>
              </a:rPr>
              <a:t>Real bookkeeping: </a:t>
            </a:r>
            <a:r>
              <a:rPr sz="1450" b="0">
                <a:solidFill>
                  <a:srgbClr val="E8ECF1"/>
                </a:solidFill>
                <a:latin typeface="Calibri"/>
              </a:rPr>
              <a:t>a genuine double-entry ledger enforces debits equal credits before any transaction is written.</a:t>
            </a:r>
          </a:p>
          <a:p>
            <a:pPr>
              <a:lnSpc>
                <a:spcPct val="108000"/>
              </a:lnSpc>
              <a:spcAft>
                <a:spcPts val="1200"/>
              </a:spcAft>
            </a:pPr>
            <a:r>
              <a:rPr sz="1450" b="1">
                <a:solidFill>
                  <a:srgbClr val="1A9C9C"/>
                </a:solidFill>
                <a:latin typeface="Calibri"/>
              </a:rPr>
              <a:t>▸  </a:t>
            </a:r>
            <a:r>
              <a:rPr sz="1450" b="1">
                <a:solidFill>
                  <a:srgbClr val="FFFFFF"/>
                </a:solidFill>
                <a:latin typeface="Calibri"/>
              </a:rPr>
              <a:t>Modeled economy: </a:t>
            </a:r>
            <a:r>
              <a:rPr sz="1450" b="0">
                <a:solidFill>
                  <a:srgbClr val="E8ECF1"/>
                </a:solidFill>
                <a:latin typeface="Calibri"/>
              </a:rPr>
              <a:t>a hand-tuned demand function combines price, marketing, market conditions, and competitor behaviour, with per-business risk mechanics (spoilage, breakdowns, FX swings).</a:t>
            </a:r>
          </a:p>
          <a:p>
            <a:pPr>
              <a:lnSpc>
                <a:spcPct val="108000"/>
              </a:lnSpc>
              <a:spcAft>
                <a:spcPts val="1200"/>
              </a:spcAft>
            </a:pPr>
            <a:r>
              <a:rPr sz="1450" b="1">
                <a:solidFill>
                  <a:srgbClr val="1A9C9C"/>
                </a:solidFill>
                <a:latin typeface="Calibri"/>
              </a:rPr>
              <a:t>▸  </a:t>
            </a:r>
            <a:r>
              <a:rPr sz="1450" b="1">
                <a:solidFill>
                  <a:srgbClr val="FFFFFF"/>
                </a:solidFill>
                <a:latin typeface="Calibri"/>
              </a:rPr>
              <a:t>AI-driven characters: </a:t>
            </a:r>
            <a:r>
              <a:rPr sz="1450" b="0">
                <a:solidFill>
                  <a:srgbClr val="E8ECF1"/>
                </a:solidFill>
                <a:latin typeface="Calibri"/>
              </a:rPr>
              <a:t>Claude powers the rival's negotiation, the in-game loan officer, and weekly performance coaching.</a:t>
            </a:r>
          </a:p>
        </p:txBody>
      </p:sp>
      <p:sp>
        <p:nvSpPr>
          <p:cNvPr id="9" name="Rounded Rectangle 8"/>
          <p:cNvSpPr/>
          <p:nvPr/>
        </p:nvSpPr>
        <p:spPr>
          <a:xfrm>
            <a:off x="7772400" y="1783080"/>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30-day session
starts</a:t>
            </a:r>
          </a:p>
        </p:txBody>
      </p:sp>
      <p:sp>
        <p:nvSpPr>
          <p:cNvPr id="10" name="Down Arrow 9"/>
          <p:cNvSpPr/>
          <p:nvPr/>
        </p:nvSpPr>
        <p:spPr>
          <a:xfrm>
            <a:off x="9555479" y="2560320"/>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0" y="2724912"/>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Daily event
(seeded)</a:t>
            </a:r>
          </a:p>
        </p:txBody>
      </p:sp>
      <p:sp>
        <p:nvSpPr>
          <p:cNvPr id="12" name="Down Arrow 11"/>
          <p:cNvSpPr/>
          <p:nvPr/>
        </p:nvSpPr>
        <p:spPr>
          <a:xfrm>
            <a:off x="9555479" y="3502152"/>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0" y="3666744"/>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Player decision</a:t>
            </a:r>
          </a:p>
        </p:txBody>
      </p:sp>
      <p:sp>
        <p:nvSpPr>
          <p:cNvPr id="14" name="Down Arrow 13"/>
          <p:cNvSpPr/>
          <p:nvPr/>
        </p:nvSpPr>
        <p:spPr>
          <a:xfrm>
            <a:off x="9555479" y="4443984"/>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0" y="4608576"/>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Ledger update
(double-entry)</a:t>
            </a:r>
          </a:p>
        </p:txBody>
      </p:sp>
      <p:sp>
        <p:nvSpPr>
          <p:cNvPr id="16" name="Down Arrow 15"/>
          <p:cNvSpPr/>
          <p:nvPr/>
        </p:nvSpPr>
        <p:spPr>
          <a:xfrm>
            <a:off x="9555479" y="5385816"/>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5550408"/>
            <a:ext cx="3749039" cy="777240"/>
          </a:xfrm>
          <a:prstGeom prst="roundRect">
            <a:avLst>
              <a:gd name="adj" fmla="val 50000"/>
            </a:avLst>
          </a:prstGeom>
          <a:solidFill>
            <a:srgbClr val="147A7A"/>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AI coaching</a:t>
            </a:r>
          </a:p>
        </p:txBody>
      </p:sp>
      <p:sp>
        <p:nvSpPr>
          <p:cNvPr id="18" name="TextBox 17"/>
          <p:cNvSpPr txBox="1"/>
          <p:nvPr/>
        </p:nvSpPr>
        <p:spPr>
          <a:xfrm>
            <a:off x="640080" y="6446520"/>
            <a:ext cx="5486400" cy="320040"/>
          </a:xfrm>
          <a:prstGeom prst="rect">
            <a:avLst/>
          </a:prstGeom>
          <a:noFill/>
        </p:spPr>
        <p:txBody>
          <a:bodyPr wrap="square" anchor="t">
            <a:spAutoFit/>
          </a:bodyPr>
          <a:lstStyle/>
          <a:p>
            <a:pPr algn="l">
              <a:lnSpc>
                <a:spcPct val="100000"/>
              </a:lnSpc>
            </a:pPr>
            <a:r>
              <a:rPr sz="1000" b="0" i="0">
                <a:solidFill>
                  <a:srgbClr val="9AA5B5"/>
                </a:solidFill>
                <a:latin typeface="Calibri"/>
              </a:rPr>
              <a:t>KIP — Kwacha Intelligence Platform</a:t>
            </a:r>
          </a:p>
        </p:txBody>
      </p:sp>
      <p:sp>
        <p:nvSpPr>
          <p:cNvPr id="19" name="TextBox 18"/>
          <p:cNvSpPr txBox="1"/>
          <p:nvPr/>
        </p:nvSpPr>
        <p:spPr>
          <a:xfrm>
            <a:off x="10881360" y="6446520"/>
            <a:ext cx="640080" cy="320040"/>
          </a:xfrm>
          <a:prstGeom prst="rect">
            <a:avLst/>
          </a:prstGeom>
          <a:noFill/>
        </p:spPr>
        <p:txBody>
          <a:bodyPr wrap="square" anchor="t">
            <a:spAutoFit/>
          </a:bodyPr>
          <a:lstStyle/>
          <a:p>
            <a:pPr algn="r">
              <a:lnSpc>
                <a:spcPct val="100000"/>
              </a:lnSpc>
            </a:pPr>
            <a:r>
              <a:rPr sz="1000" b="0" i="0">
                <a:solidFill>
                  <a:srgbClr val="9AA5B5"/>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anchor="t">
            <a:spAutoFit/>
          </a:bodyPr>
          <a:lstStyle/>
          <a:p>
            <a:pPr algn="l">
              <a:lnSpc>
                <a:spcPct val="100000"/>
              </a:lnSpc>
            </a:pPr>
            <a:r>
              <a:rPr sz="1300" b="1" i="0">
                <a:solidFill>
                  <a:srgbClr val="1A9C9C"/>
                </a:solidFill>
                <a:latin typeface="Calibri"/>
              </a:rPr>
              <a:t>FEATURE 4</a:t>
            </a:r>
          </a:p>
        </p:txBody>
      </p:sp>
      <p:sp>
        <p:nvSpPr>
          <p:cNvPr id="4" name="TextBox 3"/>
          <p:cNvSpPr txBox="1"/>
          <p:nvPr/>
        </p:nvSpPr>
        <p:spPr>
          <a:xfrm>
            <a:off x="640080" y="822960"/>
            <a:ext cx="10881360" cy="822960"/>
          </a:xfrm>
          <a:prstGeom prst="rect">
            <a:avLst/>
          </a:prstGeom>
          <a:noFill/>
        </p:spPr>
        <p:txBody>
          <a:bodyPr wrap="square" anchor="t">
            <a:spAutoFit/>
          </a:bodyPr>
          <a:lstStyle/>
          <a:p>
            <a:pPr algn="l">
              <a:lnSpc>
                <a:spcPct val="100000"/>
              </a:lnSpc>
            </a:pPr>
            <a:r>
              <a:rPr sz="3200" b="1" i="0">
                <a:solidFill>
                  <a:srgbClr val="FFFFFF"/>
                </a:solidFill>
                <a:latin typeface="Calibri"/>
              </a:rPr>
              <a:t>Localization &amp; Capital Access</a:t>
            </a:r>
          </a:p>
        </p:txBody>
      </p:sp>
      <p:sp>
        <p:nvSpPr>
          <p:cNvPr id="5" name="Rectangle 4"/>
          <p:cNvSpPr/>
          <p:nvPr/>
        </p:nvSpPr>
        <p:spPr>
          <a:xfrm>
            <a:off x="640080" y="1508760"/>
            <a:ext cx="1828800" cy="38100"/>
          </a:xfrm>
          <a:prstGeom prst="rect">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6675120" cy="914400"/>
          </a:xfrm>
          <a:prstGeom prst="rect">
            <a:avLst/>
          </a:prstGeom>
          <a:noFill/>
        </p:spPr>
        <p:txBody>
          <a:bodyPr wrap="square" anchor="t">
            <a:spAutoFit/>
          </a:bodyPr>
          <a:lstStyle/>
          <a:p>
            <a:pPr algn="l">
              <a:lnSpc>
                <a:spcPct val="118000"/>
              </a:lnSpc>
            </a:pPr>
            <a:r>
              <a:rPr sz="1500" b="0" i="0">
                <a:solidFill>
                  <a:srgbClr val="E8ECF1"/>
                </a:solidFill>
                <a:latin typeface="Calibri"/>
              </a:rPr>
              <a:t>Makes the platform usable in local languages, and connects a business profile to real Zambian funding sources.</a:t>
            </a:r>
          </a:p>
        </p:txBody>
      </p:sp>
      <p:sp>
        <p:nvSpPr>
          <p:cNvPr id="7" name="TextBox 6"/>
          <p:cNvSpPr txBox="1"/>
          <p:nvPr/>
        </p:nvSpPr>
        <p:spPr>
          <a:xfrm>
            <a:off x="640080" y="2606040"/>
            <a:ext cx="3657600" cy="365760"/>
          </a:xfrm>
          <a:prstGeom prst="rect">
            <a:avLst/>
          </a:prstGeom>
          <a:noFill/>
        </p:spPr>
        <p:txBody>
          <a:bodyPr wrap="square" anchor="t">
            <a:spAutoFit/>
          </a:bodyPr>
          <a:lstStyle/>
          <a:p>
            <a:pPr algn="l">
              <a:lnSpc>
                <a:spcPct val="100000"/>
              </a:lnSpc>
            </a:pPr>
            <a:r>
              <a:rPr sz="1200" b="1" i="0">
                <a:solidFill>
                  <a:srgbClr val="1A9C9C"/>
                </a:solidFill>
                <a:latin typeface="Calibri"/>
              </a:rPr>
              <a:t>HOW IT'S IMPLEMENTED</a:t>
            </a:r>
          </a:p>
        </p:txBody>
      </p:sp>
      <p:sp>
        <p:nvSpPr>
          <p:cNvPr id="8" name="TextBox 7"/>
          <p:cNvSpPr txBox="1"/>
          <p:nvPr/>
        </p:nvSpPr>
        <p:spPr>
          <a:xfrm>
            <a:off x="640080" y="2971800"/>
            <a:ext cx="6675120" cy="3291840"/>
          </a:xfrm>
          <a:prstGeom prst="rect">
            <a:avLst/>
          </a:prstGeom>
          <a:noFill/>
        </p:spPr>
        <p:txBody>
          <a:bodyPr wrap="square">
            <a:spAutoFit/>
          </a:bodyPr>
          <a:lstStyle/>
          <a:p>
            <a:pPr>
              <a:lnSpc>
                <a:spcPct val="108000"/>
              </a:lnSpc>
              <a:spcAft>
                <a:spcPts val="1200"/>
              </a:spcAft>
            </a:pPr>
            <a:r>
              <a:rPr sz="1450" b="1">
                <a:solidFill>
                  <a:srgbClr val="1A9C9C"/>
                </a:solidFill>
                <a:latin typeface="Calibri"/>
              </a:rPr>
              <a:t>▸  </a:t>
            </a:r>
            <a:r>
              <a:rPr sz="1450" b="1">
                <a:solidFill>
                  <a:srgbClr val="FFFFFF"/>
                </a:solidFill>
                <a:latin typeface="Calibri"/>
              </a:rPr>
              <a:t>Multi-language UI: </a:t>
            </a:r>
            <a:r>
              <a:rPr sz="1450" b="0">
                <a:solidFill>
                  <a:srgbClr val="E8ECF1"/>
                </a:solidFill>
                <a:latin typeface="Calibri"/>
              </a:rPr>
              <a:t>interface and AI content are translated into Bemba, Nyanja, Tonga, Lozi and Tumbuka via a translation API, cached in SQLite so each string is translated once.</a:t>
            </a:r>
          </a:p>
          <a:p>
            <a:pPr>
              <a:lnSpc>
                <a:spcPct val="108000"/>
              </a:lnSpc>
              <a:spcAft>
                <a:spcPts val="1200"/>
              </a:spcAft>
            </a:pPr>
            <a:r>
              <a:rPr sz="1450" b="1">
                <a:solidFill>
                  <a:srgbClr val="1A9C9C"/>
                </a:solidFill>
                <a:latin typeface="Calibri"/>
              </a:rPr>
              <a:t>▸  </a:t>
            </a:r>
            <a:r>
              <a:rPr sz="1450" b="1">
                <a:solidFill>
                  <a:srgbClr val="FFFFFF"/>
                </a:solidFill>
                <a:latin typeface="Calibri"/>
              </a:rPr>
              <a:t>Natural code-switching: </a:t>
            </a:r>
            <a:r>
              <a:rPr sz="1450" b="0">
                <a:solidFill>
                  <a:srgbClr val="E8ECF1"/>
                </a:solidFill>
                <a:latin typeface="Calibri"/>
              </a:rPr>
              <a:t>Bemba responses are produced by prompt-engineering Claude to mix Bemba and English business terms naturally, not literal word-for-word translation.</a:t>
            </a:r>
          </a:p>
          <a:p>
            <a:pPr>
              <a:lnSpc>
                <a:spcPct val="108000"/>
              </a:lnSpc>
              <a:spcAft>
                <a:spcPts val="1200"/>
              </a:spcAft>
            </a:pPr>
            <a:r>
              <a:rPr sz="1450" b="1">
                <a:solidFill>
                  <a:srgbClr val="1A9C9C"/>
                </a:solidFill>
                <a:latin typeface="Calibri"/>
              </a:rPr>
              <a:t>▸  </a:t>
            </a:r>
            <a:r>
              <a:rPr sz="1450" b="1">
                <a:solidFill>
                  <a:srgbClr val="FFFFFF"/>
                </a:solidFill>
                <a:latin typeface="Calibri"/>
              </a:rPr>
              <a:t>Funding matcher: </a:t>
            </a:r>
            <a:r>
              <a:rPr sz="1450" b="0">
                <a:solidFill>
                  <a:srgbClr val="E8ECF1"/>
                </a:solidFill>
                <a:latin typeface="Calibri"/>
              </a:rPr>
              <a:t>a heuristic scoring engine ranks a user's business profile against seven real Zambian funding sources (CEEC, DBZ, ZANACO, and others).</a:t>
            </a:r>
          </a:p>
          <a:p>
            <a:pPr>
              <a:lnSpc>
                <a:spcPct val="108000"/>
              </a:lnSpc>
              <a:spcAft>
                <a:spcPts val="1200"/>
              </a:spcAft>
            </a:pPr>
            <a:r>
              <a:rPr sz="1450" b="1">
                <a:solidFill>
                  <a:srgbClr val="1A9C9C"/>
                </a:solidFill>
                <a:latin typeface="Calibri"/>
              </a:rPr>
              <a:t>▸  </a:t>
            </a:r>
            <a:r>
              <a:rPr sz="1450" b="1">
                <a:solidFill>
                  <a:srgbClr val="FFFFFF"/>
                </a:solidFill>
                <a:latin typeface="Calibri"/>
              </a:rPr>
              <a:t>Personalized guidance: </a:t>
            </a:r>
            <a:r>
              <a:rPr sz="1450" b="0">
                <a:solidFill>
                  <a:srgbClr val="E8ECF1"/>
                </a:solidFill>
                <a:latin typeface="Calibri"/>
              </a:rPr>
              <a:t>the top matches are handed to Claude to generate specific, actionable funding advice.</a:t>
            </a:r>
          </a:p>
        </p:txBody>
      </p:sp>
      <p:sp>
        <p:nvSpPr>
          <p:cNvPr id="9" name="Rounded Rectangle 8"/>
          <p:cNvSpPr/>
          <p:nvPr/>
        </p:nvSpPr>
        <p:spPr>
          <a:xfrm>
            <a:off x="7772400" y="1783080"/>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Business profile</a:t>
            </a:r>
          </a:p>
        </p:txBody>
      </p:sp>
      <p:sp>
        <p:nvSpPr>
          <p:cNvPr id="10" name="Down Arrow 9"/>
          <p:cNvSpPr/>
          <p:nvPr/>
        </p:nvSpPr>
        <p:spPr>
          <a:xfrm>
            <a:off x="9555479" y="2560320"/>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0" y="2724912"/>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Heuristic scoring
(7 sources)</a:t>
            </a:r>
          </a:p>
        </p:txBody>
      </p:sp>
      <p:sp>
        <p:nvSpPr>
          <p:cNvPr id="12" name="Down Arrow 11"/>
          <p:cNvSpPr/>
          <p:nvPr/>
        </p:nvSpPr>
        <p:spPr>
          <a:xfrm>
            <a:off x="9555479" y="3502152"/>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0" y="3666744"/>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Top matches</a:t>
            </a:r>
          </a:p>
        </p:txBody>
      </p:sp>
      <p:sp>
        <p:nvSpPr>
          <p:cNvPr id="14" name="Down Arrow 13"/>
          <p:cNvSpPr/>
          <p:nvPr/>
        </p:nvSpPr>
        <p:spPr>
          <a:xfrm>
            <a:off x="9555479" y="4443984"/>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0" y="4608576"/>
            <a:ext cx="3749039" cy="777240"/>
          </a:xfrm>
          <a:prstGeom prst="roundRect">
            <a:avLst>
              <a:gd name="adj" fmla="val 50000"/>
            </a:avLst>
          </a:prstGeom>
          <a:solidFill>
            <a:srgbClr val="223352"/>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Claude guidance</a:t>
            </a:r>
          </a:p>
        </p:txBody>
      </p:sp>
      <p:sp>
        <p:nvSpPr>
          <p:cNvPr id="16" name="Down Arrow 15"/>
          <p:cNvSpPr/>
          <p:nvPr/>
        </p:nvSpPr>
        <p:spPr>
          <a:xfrm>
            <a:off x="9555479" y="5385816"/>
            <a:ext cx="182880" cy="164592"/>
          </a:xfrm>
          <a:prstGeom prst="downArrow">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5550408"/>
            <a:ext cx="3749039" cy="777240"/>
          </a:xfrm>
          <a:prstGeom prst="roundRect">
            <a:avLst>
              <a:gd name="adj" fmla="val 50000"/>
            </a:avLst>
          </a:prstGeom>
          <a:solidFill>
            <a:srgbClr val="147A7A"/>
          </a:solidFill>
          <a:ln w="15875">
            <a:solidFill>
              <a:srgbClr val="1A9C9C"/>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rPr>
              <a:t>Bemba/Nyanja UI</a:t>
            </a:r>
          </a:p>
        </p:txBody>
      </p:sp>
      <p:sp>
        <p:nvSpPr>
          <p:cNvPr id="18" name="TextBox 17"/>
          <p:cNvSpPr txBox="1"/>
          <p:nvPr/>
        </p:nvSpPr>
        <p:spPr>
          <a:xfrm>
            <a:off x="640080" y="6446520"/>
            <a:ext cx="5486400" cy="320040"/>
          </a:xfrm>
          <a:prstGeom prst="rect">
            <a:avLst/>
          </a:prstGeom>
          <a:noFill/>
        </p:spPr>
        <p:txBody>
          <a:bodyPr wrap="square" anchor="t">
            <a:spAutoFit/>
          </a:bodyPr>
          <a:lstStyle/>
          <a:p>
            <a:pPr algn="l">
              <a:lnSpc>
                <a:spcPct val="100000"/>
              </a:lnSpc>
            </a:pPr>
            <a:r>
              <a:rPr sz="1000" b="0" i="0">
                <a:solidFill>
                  <a:srgbClr val="9AA5B5"/>
                </a:solidFill>
                <a:latin typeface="Calibri"/>
              </a:rPr>
              <a:t>KIP — Kwacha Intelligence Platform</a:t>
            </a:r>
          </a:p>
        </p:txBody>
      </p:sp>
      <p:sp>
        <p:nvSpPr>
          <p:cNvPr id="19" name="TextBox 18"/>
          <p:cNvSpPr txBox="1"/>
          <p:nvPr/>
        </p:nvSpPr>
        <p:spPr>
          <a:xfrm>
            <a:off x="10881360" y="6446520"/>
            <a:ext cx="640080" cy="320040"/>
          </a:xfrm>
          <a:prstGeom prst="rect">
            <a:avLst/>
          </a:prstGeom>
          <a:noFill/>
        </p:spPr>
        <p:txBody>
          <a:bodyPr wrap="square" anchor="t">
            <a:spAutoFit/>
          </a:bodyPr>
          <a:lstStyle/>
          <a:p>
            <a:pPr algn="r">
              <a:lnSpc>
                <a:spcPct val="100000"/>
              </a:lnSpc>
            </a:pPr>
            <a:r>
              <a:rPr sz="1000" b="0" i="0">
                <a:solidFill>
                  <a:srgbClr val="9AA5B5"/>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anchor="t">
            <a:spAutoFit/>
          </a:bodyPr>
          <a:lstStyle/>
          <a:p>
            <a:pPr algn="l">
              <a:lnSpc>
                <a:spcPct val="100000"/>
              </a:lnSpc>
            </a:pPr>
            <a:r>
              <a:rPr sz="1300" b="1" i="0">
                <a:solidFill>
                  <a:srgbClr val="1A9C9C"/>
                </a:solidFill>
                <a:latin typeface="Calibri"/>
              </a:rPr>
              <a:t>WHERE WE'RE FOCUSED NOW</a:t>
            </a:r>
          </a:p>
        </p:txBody>
      </p:sp>
      <p:sp>
        <p:nvSpPr>
          <p:cNvPr id="4" name="TextBox 3"/>
          <p:cNvSpPr txBox="1"/>
          <p:nvPr/>
        </p:nvSpPr>
        <p:spPr>
          <a:xfrm>
            <a:off x="640080" y="822960"/>
            <a:ext cx="10881360" cy="822960"/>
          </a:xfrm>
          <a:prstGeom prst="rect">
            <a:avLst/>
          </a:prstGeom>
          <a:noFill/>
        </p:spPr>
        <p:txBody>
          <a:bodyPr wrap="square" anchor="t">
            <a:spAutoFit/>
          </a:bodyPr>
          <a:lstStyle/>
          <a:p>
            <a:pPr algn="l">
              <a:lnSpc>
                <a:spcPct val="100000"/>
              </a:lnSpc>
            </a:pPr>
            <a:r>
              <a:rPr sz="3200" b="1" i="0">
                <a:solidFill>
                  <a:srgbClr val="FFFFFF"/>
                </a:solidFill>
                <a:latin typeface="Calibri"/>
              </a:rPr>
              <a:t>Technical challenges we're solving</a:t>
            </a:r>
          </a:p>
        </p:txBody>
      </p:sp>
      <p:sp>
        <p:nvSpPr>
          <p:cNvPr id="5" name="Rectangle 4"/>
          <p:cNvSpPr/>
          <p:nvPr/>
        </p:nvSpPr>
        <p:spPr>
          <a:xfrm>
            <a:off x="640080" y="1508760"/>
            <a:ext cx="1828800" cy="38100"/>
          </a:xfrm>
          <a:prstGeom prst="rect">
            <a:avLst/>
          </a:prstGeom>
          <a:solidFill>
            <a:srgbClr val="1A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874520"/>
            <a:ext cx="384048" cy="384048"/>
          </a:xfrm>
          <a:prstGeom prst="ellipse">
            <a:avLst/>
          </a:prstGeom>
          <a:solidFill>
            <a:srgbClr val="147A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1</a:t>
            </a:r>
          </a:p>
        </p:txBody>
      </p:sp>
      <p:sp>
        <p:nvSpPr>
          <p:cNvPr id="7" name="TextBox 6"/>
          <p:cNvSpPr txBox="1"/>
          <p:nvPr/>
        </p:nvSpPr>
        <p:spPr>
          <a:xfrm>
            <a:off x="1234440" y="1828800"/>
            <a:ext cx="2377440" cy="457200"/>
          </a:xfrm>
          <a:prstGeom prst="rect">
            <a:avLst/>
          </a:prstGeom>
          <a:noFill/>
        </p:spPr>
        <p:txBody>
          <a:bodyPr wrap="square" anchor="t">
            <a:spAutoFit/>
          </a:bodyPr>
          <a:lstStyle/>
          <a:p>
            <a:pPr algn="l">
              <a:lnSpc>
                <a:spcPct val="100000"/>
              </a:lnSpc>
            </a:pPr>
            <a:r>
              <a:rPr sz="1500" b="1" i="0">
                <a:solidFill>
                  <a:srgbClr val="FFFFFF"/>
                </a:solidFill>
                <a:latin typeface="Calibri"/>
              </a:rPr>
              <a:t>AI cost control</a:t>
            </a:r>
          </a:p>
        </p:txBody>
      </p:sp>
      <p:sp>
        <p:nvSpPr>
          <p:cNvPr id="8" name="TextBox 7"/>
          <p:cNvSpPr txBox="1"/>
          <p:nvPr/>
        </p:nvSpPr>
        <p:spPr>
          <a:xfrm>
            <a:off x="3703320" y="1810512"/>
            <a:ext cx="7818120" cy="777240"/>
          </a:xfrm>
          <a:prstGeom prst="rect">
            <a:avLst/>
          </a:prstGeom>
          <a:noFill/>
        </p:spPr>
        <p:txBody>
          <a:bodyPr wrap="square" anchor="t">
            <a:spAutoFit/>
          </a:bodyPr>
          <a:lstStyle/>
          <a:p>
            <a:pPr algn="l">
              <a:lnSpc>
                <a:spcPct val="110000"/>
              </a:lnSpc>
            </a:pPr>
            <a:r>
              <a:rPr sz="1250" b="0" i="0">
                <a:solidFill>
                  <a:srgbClr val="E8ECF1"/>
                </a:solidFill>
                <a:latin typeface="Calibri"/>
              </a:rPr>
              <a:t>Usage-limiting logic exists in the codebase but isn't yet wired into every AI-calling endpoint — closing that gap is the top priority before wider traffic.</a:t>
            </a:r>
          </a:p>
        </p:txBody>
      </p:sp>
      <p:sp>
        <p:nvSpPr>
          <p:cNvPr id="9" name="Oval 8"/>
          <p:cNvSpPr/>
          <p:nvPr/>
        </p:nvSpPr>
        <p:spPr>
          <a:xfrm>
            <a:off x="640080" y="2715768"/>
            <a:ext cx="384048" cy="384048"/>
          </a:xfrm>
          <a:prstGeom prst="ellipse">
            <a:avLst/>
          </a:prstGeom>
          <a:solidFill>
            <a:srgbClr val="147A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2</a:t>
            </a:r>
          </a:p>
        </p:txBody>
      </p:sp>
      <p:sp>
        <p:nvSpPr>
          <p:cNvPr id="10" name="TextBox 9"/>
          <p:cNvSpPr txBox="1"/>
          <p:nvPr/>
        </p:nvSpPr>
        <p:spPr>
          <a:xfrm>
            <a:off x="1234440" y="2670048"/>
            <a:ext cx="2377440" cy="457200"/>
          </a:xfrm>
          <a:prstGeom prst="rect">
            <a:avLst/>
          </a:prstGeom>
          <a:noFill/>
        </p:spPr>
        <p:txBody>
          <a:bodyPr wrap="square" anchor="t">
            <a:spAutoFit/>
          </a:bodyPr>
          <a:lstStyle/>
          <a:p>
            <a:pPr algn="l">
              <a:lnSpc>
                <a:spcPct val="100000"/>
              </a:lnSpc>
            </a:pPr>
            <a:r>
              <a:rPr sz="1500" b="1" i="0">
                <a:solidFill>
                  <a:srgbClr val="FFFFFF"/>
                </a:solidFill>
                <a:latin typeface="Calibri"/>
              </a:rPr>
              <a:t>Data layer maturity</a:t>
            </a:r>
          </a:p>
        </p:txBody>
      </p:sp>
      <p:sp>
        <p:nvSpPr>
          <p:cNvPr id="11" name="TextBox 10"/>
          <p:cNvSpPr txBox="1"/>
          <p:nvPr/>
        </p:nvSpPr>
        <p:spPr>
          <a:xfrm>
            <a:off x="3703320" y="2651760"/>
            <a:ext cx="7818120" cy="777240"/>
          </a:xfrm>
          <a:prstGeom prst="rect">
            <a:avLst/>
          </a:prstGeom>
          <a:noFill/>
        </p:spPr>
        <p:txBody>
          <a:bodyPr wrap="square" anchor="t">
            <a:spAutoFit/>
          </a:bodyPr>
          <a:lstStyle/>
          <a:p>
            <a:pPr algn="l">
              <a:lnSpc>
                <a:spcPct val="110000"/>
              </a:lnSpc>
            </a:pPr>
            <a:r>
              <a:rPr sz="1250" b="0" i="0">
                <a:solidFill>
                  <a:srgbClr val="E8ECF1"/>
                </a:solidFill>
                <a:latin typeface="Calibri"/>
              </a:rPr>
              <a:t>Several features still bootstrap their own SQLite tables at request time; we're consolidating onto proper schema migrations as we move toward PostgreSQL in production.</a:t>
            </a:r>
          </a:p>
        </p:txBody>
      </p:sp>
      <p:sp>
        <p:nvSpPr>
          <p:cNvPr id="12" name="Oval 11"/>
          <p:cNvSpPr/>
          <p:nvPr/>
        </p:nvSpPr>
        <p:spPr>
          <a:xfrm>
            <a:off x="640080" y="3557016"/>
            <a:ext cx="384048" cy="384048"/>
          </a:xfrm>
          <a:prstGeom prst="ellipse">
            <a:avLst/>
          </a:prstGeom>
          <a:solidFill>
            <a:srgbClr val="147A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3</a:t>
            </a:r>
          </a:p>
        </p:txBody>
      </p:sp>
      <p:sp>
        <p:nvSpPr>
          <p:cNvPr id="13" name="TextBox 12"/>
          <p:cNvSpPr txBox="1"/>
          <p:nvPr/>
        </p:nvSpPr>
        <p:spPr>
          <a:xfrm>
            <a:off x="1234440" y="3511296"/>
            <a:ext cx="2377440" cy="457200"/>
          </a:xfrm>
          <a:prstGeom prst="rect">
            <a:avLst/>
          </a:prstGeom>
          <a:noFill/>
        </p:spPr>
        <p:txBody>
          <a:bodyPr wrap="square" anchor="t">
            <a:spAutoFit/>
          </a:bodyPr>
          <a:lstStyle/>
          <a:p>
            <a:pPr algn="l">
              <a:lnSpc>
                <a:spcPct val="100000"/>
              </a:lnSpc>
            </a:pPr>
            <a:r>
              <a:rPr sz="1500" b="1" i="0">
                <a:solidFill>
                  <a:srgbClr val="FFFFFF"/>
                </a:solidFill>
                <a:latin typeface="Calibri"/>
              </a:rPr>
              <a:t>Concurrency</a:t>
            </a:r>
          </a:p>
        </p:txBody>
      </p:sp>
      <p:sp>
        <p:nvSpPr>
          <p:cNvPr id="14" name="TextBox 13"/>
          <p:cNvSpPr txBox="1"/>
          <p:nvPr/>
        </p:nvSpPr>
        <p:spPr>
          <a:xfrm>
            <a:off x="3703320" y="3493008"/>
            <a:ext cx="7818120" cy="777240"/>
          </a:xfrm>
          <a:prstGeom prst="rect">
            <a:avLst/>
          </a:prstGeom>
          <a:noFill/>
        </p:spPr>
        <p:txBody>
          <a:bodyPr wrap="square" anchor="t">
            <a:spAutoFit/>
          </a:bodyPr>
          <a:lstStyle/>
          <a:p>
            <a:pPr algn="l">
              <a:lnSpc>
                <a:spcPct val="110000"/>
              </a:lnSpc>
            </a:pPr>
            <a:r>
              <a:rPr sz="1250" b="0" i="0">
                <a:solidFill>
                  <a:srgbClr val="E8ECF1"/>
                </a:solidFill>
                <a:latin typeface="Calibri"/>
              </a:rPr>
              <a:t>Some AI calls currently block the server's event loop; we're moving them to run asynchronously so multiple users aren't queued behind one Claude request.</a:t>
            </a:r>
          </a:p>
        </p:txBody>
      </p:sp>
      <p:sp>
        <p:nvSpPr>
          <p:cNvPr id="15" name="Oval 14"/>
          <p:cNvSpPr/>
          <p:nvPr/>
        </p:nvSpPr>
        <p:spPr>
          <a:xfrm>
            <a:off x="640080" y="4398264"/>
            <a:ext cx="384048" cy="384048"/>
          </a:xfrm>
          <a:prstGeom prst="ellipse">
            <a:avLst/>
          </a:prstGeom>
          <a:solidFill>
            <a:srgbClr val="147A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4</a:t>
            </a:r>
          </a:p>
        </p:txBody>
      </p:sp>
      <p:sp>
        <p:nvSpPr>
          <p:cNvPr id="16" name="TextBox 15"/>
          <p:cNvSpPr txBox="1"/>
          <p:nvPr/>
        </p:nvSpPr>
        <p:spPr>
          <a:xfrm>
            <a:off x="1234440" y="4352544"/>
            <a:ext cx="2377440" cy="457200"/>
          </a:xfrm>
          <a:prstGeom prst="rect">
            <a:avLst/>
          </a:prstGeom>
          <a:noFill/>
        </p:spPr>
        <p:txBody>
          <a:bodyPr wrap="square" anchor="t">
            <a:spAutoFit/>
          </a:bodyPr>
          <a:lstStyle/>
          <a:p>
            <a:pPr algn="l">
              <a:lnSpc>
                <a:spcPct val="100000"/>
              </a:lnSpc>
            </a:pPr>
            <a:r>
              <a:rPr sz="1500" b="1" i="0">
                <a:solidFill>
                  <a:srgbClr val="FFFFFF"/>
                </a:solidFill>
                <a:latin typeface="Calibri"/>
              </a:rPr>
              <a:t>Rate limiting &amp; abuse protection</a:t>
            </a:r>
          </a:p>
        </p:txBody>
      </p:sp>
      <p:sp>
        <p:nvSpPr>
          <p:cNvPr id="17" name="TextBox 16"/>
          <p:cNvSpPr txBox="1"/>
          <p:nvPr/>
        </p:nvSpPr>
        <p:spPr>
          <a:xfrm>
            <a:off x="3703320" y="4334256"/>
            <a:ext cx="7818120" cy="777240"/>
          </a:xfrm>
          <a:prstGeom prst="rect">
            <a:avLst/>
          </a:prstGeom>
          <a:noFill/>
        </p:spPr>
        <p:txBody>
          <a:bodyPr wrap="square" anchor="t">
            <a:spAutoFit/>
          </a:bodyPr>
          <a:lstStyle/>
          <a:p>
            <a:pPr algn="l">
              <a:lnSpc>
                <a:spcPct val="110000"/>
              </a:lnSpc>
            </a:pPr>
            <a:r>
              <a:rPr sz="1250" b="0" i="0">
                <a:solidFill>
                  <a:srgbClr val="E8ECF1"/>
                </a:solidFill>
                <a:latin typeface="Calibri"/>
              </a:rPr>
              <a:t>Authentication and a few public endpoints need IP- and user-based rate limits before we're comfortable with open traffic.</a:t>
            </a:r>
          </a:p>
        </p:txBody>
      </p:sp>
      <p:sp>
        <p:nvSpPr>
          <p:cNvPr id="18" name="Oval 17"/>
          <p:cNvSpPr/>
          <p:nvPr/>
        </p:nvSpPr>
        <p:spPr>
          <a:xfrm>
            <a:off x="640080" y="5239512"/>
            <a:ext cx="384048" cy="384048"/>
          </a:xfrm>
          <a:prstGeom prst="ellipse">
            <a:avLst/>
          </a:prstGeom>
          <a:solidFill>
            <a:srgbClr val="147A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rPr>
              <a:t>5</a:t>
            </a:r>
          </a:p>
        </p:txBody>
      </p:sp>
      <p:sp>
        <p:nvSpPr>
          <p:cNvPr id="19" name="TextBox 18"/>
          <p:cNvSpPr txBox="1"/>
          <p:nvPr/>
        </p:nvSpPr>
        <p:spPr>
          <a:xfrm>
            <a:off x="1234440" y="5193792"/>
            <a:ext cx="2377440" cy="457200"/>
          </a:xfrm>
          <a:prstGeom prst="rect">
            <a:avLst/>
          </a:prstGeom>
          <a:noFill/>
        </p:spPr>
        <p:txBody>
          <a:bodyPr wrap="square" anchor="t">
            <a:spAutoFit/>
          </a:bodyPr>
          <a:lstStyle/>
          <a:p>
            <a:pPr algn="l">
              <a:lnSpc>
                <a:spcPct val="100000"/>
              </a:lnSpc>
            </a:pPr>
            <a:r>
              <a:rPr sz="1500" b="1" i="0">
                <a:solidFill>
                  <a:srgbClr val="FFFFFF"/>
                </a:solidFill>
                <a:latin typeface="Calibri"/>
              </a:rPr>
              <a:t>Payment integration</a:t>
            </a:r>
          </a:p>
        </p:txBody>
      </p:sp>
      <p:sp>
        <p:nvSpPr>
          <p:cNvPr id="20" name="TextBox 19"/>
          <p:cNvSpPr txBox="1"/>
          <p:nvPr/>
        </p:nvSpPr>
        <p:spPr>
          <a:xfrm>
            <a:off x="3703320" y="5175504"/>
            <a:ext cx="7818120" cy="777240"/>
          </a:xfrm>
          <a:prstGeom prst="rect">
            <a:avLst/>
          </a:prstGeom>
          <a:noFill/>
        </p:spPr>
        <p:txBody>
          <a:bodyPr wrap="square" anchor="t">
            <a:spAutoFit/>
          </a:bodyPr>
          <a:lstStyle/>
          <a:p>
            <a:pPr algn="l">
              <a:lnSpc>
                <a:spcPct val="110000"/>
              </a:lnSpc>
            </a:pPr>
            <a:r>
              <a:rPr sz="1250" b="0" i="0">
                <a:solidFill>
                  <a:srgbClr val="E8ECF1"/>
                </a:solidFill>
                <a:latin typeface="Calibri"/>
              </a:rPr>
              <a:t>A recent refactor removed the previous Stripe/Flutterwave integration; we're rebuilding it cleanly rather than patching the old version.</a:t>
            </a:r>
          </a:p>
        </p:txBody>
      </p:sp>
      <p:sp>
        <p:nvSpPr>
          <p:cNvPr id="21" name="TextBox 20"/>
          <p:cNvSpPr txBox="1"/>
          <p:nvPr/>
        </p:nvSpPr>
        <p:spPr>
          <a:xfrm>
            <a:off x="640080" y="6446520"/>
            <a:ext cx="5486400" cy="320040"/>
          </a:xfrm>
          <a:prstGeom prst="rect">
            <a:avLst/>
          </a:prstGeom>
          <a:noFill/>
        </p:spPr>
        <p:txBody>
          <a:bodyPr wrap="square" anchor="t">
            <a:spAutoFit/>
          </a:bodyPr>
          <a:lstStyle/>
          <a:p>
            <a:pPr algn="l">
              <a:lnSpc>
                <a:spcPct val="100000"/>
              </a:lnSpc>
            </a:pPr>
            <a:r>
              <a:rPr sz="1000" b="0" i="0">
                <a:solidFill>
                  <a:srgbClr val="9AA5B5"/>
                </a:solidFill>
                <a:latin typeface="Calibri"/>
              </a:rPr>
              <a:t>KIP — Kwacha Intelligence Platform</a:t>
            </a:r>
          </a:p>
        </p:txBody>
      </p:sp>
      <p:sp>
        <p:nvSpPr>
          <p:cNvPr id="22" name="TextBox 21"/>
          <p:cNvSpPr txBox="1"/>
          <p:nvPr/>
        </p:nvSpPr>
        <p:spPr>
          <a:xfrm>
            <a:off x="10881360" y="6446520"/>
            <a:ext cx="640080" cy="320040"/>
          </a:xfrm>
          <a:prstGeom prst="rect">
            <a:avLst/>
          </a:prstGeom>
          <a:noFill/>
        </p:spPr>
        <p:txBody>
          <a:bodyPr wrap="square" anchor="t">
            <a:spAutoFit/>
          </a:bodyPr>
          <a:lstStyle/>
          <a:p>
            <a:pPr algn="r">
              <a:lnSpc>
                <a:spcPct val="100000"/>
              </a:lnSpc>
            </a:pPr>
            <a:r>
              <a:rPr sz="1000" b="0" i="0">
                <a:solidFill>
                  <a:srgbClr val="9AA5B5"/>
                </a:solidFill>
                <a:latin typeface="Calibri"/>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